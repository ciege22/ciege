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6"/>
  </p:sldMasterIdLst>
  <p:notesMasterIdLst>
    <p:notesMasterId r:id="rId41"/>
  </p:notesMasterIdLst>
  <p:sldIdLst>
    <p:sldId id="256" r:id="rId7"/>
    <p:sldId id="257" r:id="rId8"/>
    <p:sldId id="259" r:id="rId9"/>
    <p:sldId id="260" r:id="rId10"/>
    <p:sldId id="292" r:id="rId11"/>
    <p:sldId id="261" r:id="rId12"/>
    <p:sldId id="262" r:id="rId13"/>
    <p:sldId id="263" r:id="rId14"/>
    <p:sldId id="264" r:id="rId15"/>
    <p:sldId id="271" r:id="rId16"/>
    <p:sldId id="272" r:id="rId17"/>
    <p:sldId id="273" r:id="rId18"/>
    <p:sldId id="274" r:id="rId19"/>
    <p:sldId id="275" r:id="rId20"/>
    <p:sldId id="276" r:id="rId21"/>
    <p:sldId id="289" r:id="rId22"/>
    <p:sldId id="290" r:id="rId23"/>
    <p:sldId id="291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278" r:id="rId34"/>
    <p:sldId id="279" r:id="rId35"/>
    <p:sldId id="296" r:id="rId36"/>
    <p:sldId id="295" r:id="rId37"/>
    <p:sldId id="280" r:id="rId38"/>
    <p:sldId id="282" r:id="rId39"/>
    <p:sldId id="283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2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Ojeda (Nokia)" userId="e11bd2ac-5f56-4ab0-9011-0b8c51ba3ded" providerId="ADAL" clId="{D8641BA3-117F-4133-919C-C2CF64912E39}"/>
    <pc:docChg chg="undo redo custSel addSld delSld modSld sldOrd">
      <pc:chgData name="Christopher Ojeda (Nokia)" userId="e11bd2ac-5f56-4ab0-9011-0b8c51ba3ded" providerId="ADAL" clId="{D8641BA3-117F-4133-919C-C2CF64912E39}" dt="2026-07-15T12:40:10.959" v="2038" actId="20577"/>
      <pc:docMkLst>
        <pc:docMk/>
      </pc:docMkLst>
      <pc:sldChg chg="modSp mod">
        <pc:chgData name="Christopher Ojeda (Nokia)" userId="e11bd2ac-5f56-4ab0-9011-0b8c51ba3ded" providerId="ADAL" clId="{D8641BA3-117F-4133-919C-C2CF64912E39}" dt="2026-07-14T16:06:27.036" v="1679" actId="20577"/>
        <pc:sldMkLst>
          <pc:docMk/>
          <pc:sldMk cId="0" sldId="257"/>
        </pc:sldMkLst>
        <pc:spChg chg="mod">
          <ac:chgData name="Christopher Ojeda (Nokia)" userId="e11bd2ac-5f56-4ab0-9011-0b8c51ba3ded" providerId="ADAL" clId="{D8641BA3-117F-4133-919C-C2CF64912E39}" dt="2026-07-14T16:06:08.922" v="1670"/>
          <ac:spMkLst>
            <pc:docMk/>
            <pc:sldMk cId="0" sldId="257"/>
            <ac:spMk id="33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7-14T16:06:14.307" v="1671"/>
          <ac:spMkLst>
            <pc:docMk/>
            <pc:sldMk cId="0" sldId="257"/>
            <ac:spMk id="37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7-14T16:06:19.601" v="1672"/>
          <ac:spMkLst>
            <pc:docMk/>
            <pc:sldMk cId="0" sldId="257"/>
            <ac:spMk id="41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7-14T16:06:27.036" v="1679" actId="20577"/>
          <ac:spMkLst>
            <pc:docMk/>
            <pc:sldMk cId="0" sldId="257"/>
            <ac:spMk id="49" creationId="{00000000-0000-0000-0000-000000000000}"/>
          </ac:spMkLst>
        </pc:spChg>
      </pc:sldChg>
      <pc:sldChg chg="addSp delSp modSp mod ord">
        <pc:chgData name="Christopher Ojeda (Nokia)" userId="e11bd2ac-5f56-4ab0-9011-0b8c51ba3ded" providerId="ADAL" clId="{D8641BA3-117F-4133-919C-C2CF64912E39}" dt="2026-07-15T12:40:10.959" v="2038" actId="20577"/>
        <pc:sldMkLst>
          <pc:docMk/>
          <pc:sldMk cId="0" sldId="259"/>
        </pc:sldMkLst>
        <pc:spChg chg="mod">
          <ac:chgData name="Christopher Ojeda (Nokia)" userId="e11bd2ac-5f56-4ab0-9011-0b8c51ba3ded" providerId="ADAL" clId="{D8641BA3-117F-4133-919C-C2CF64912E39}" dt="2026-07-15T12:23:25.499" v="1992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6-30T16:02:54.409" v="434" actId="14100"/>
          <ac:spMkLst>
            <pc:docMk/>
            <pc:sldMk cId="0" sldId="259"/>
            <ac:spMk id="27" creationId="{00000000-0000-0000-0000-000000000000}"/>
          </ac:spMkLst>
        </pc:spChg>
        <pc:spChg chg="del mod">
          <ac:chgData name="Christopher Ojeda (Nokia)" userId="e11bd2ac-5f56-4ab0-9011-0b8c51ba3ded" providerId="ADAL" clId="{D8641BA3-117F-4133-919C-C2CF64912E39}" dt="2026-07-15T12:23:35.120" v="1993" actId="478"/>
          <ac:spMkLst>
            <pc:docMk/>
            <pc:sldMk cId="0" sldId="259"/>
            <ac:spMk id="29" creationId="{00000000-0000-0000-0000-000000000000}"/>
          </ac:spMkLst>
        </pc:spChg>
        <pc:spChg chg="del mod">
          <ac:chgData name="Christopher Ojeda (Nokia)" userId="e11bd2ac-5f56-4ab0-9011-0b8c51ba3ded" providerId="ADAL" clId="{D8641BA3-117F-4133-919C-C2CF64912E39}" dt="2026-07-15T12:23:38.396" v="1994" actId="478"/>
          <ac:spMkLst>
            <pc:docMk/>
            <pc:sldMk cId="0" sldId="259"/>
            <ac:spMk id="30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7-07T04:41:57.342" v="1628" actId="6549"/>
          <ac:spMkLst>
            <pc:docMk/>
            <pc:sldMk cId="0" sldId="259"/>
            <ac:spMk id="31" creationId="{00000000-0000-0000-0000-000000000000}"/>
          </ac:spMkLst>
        </pc:spChg>
        <pc:spChg chg="add mod">
          <ac:chgData name="Christopher Ojeda (Nokia)" userId="e11bd2ac-5f56-4ab0-9011-0b8c51ba3ded" providerId="ADAL" clId="{D8641BA3-117F-4133-919C-C2CF64912E39}" dt="2026-07-15T12:40:10.959" v="2038" actId="20577"/>
          <ac:spMkLst>
            <pc:docMk/>
            <pc:sldMk cId="0" sldId="259"/>
            <ac:spMk id="34" creationId="{48591BE4-A552-805B-E7E5-B5A99AE8BA47}"/>
          </ac:spMkLst>
        </pc:spChg>
        <pc:spChg chg="add del mod">
          <ac:chgData name="Christopher Ojeda (Nokia)" userId="e11bd2ac-5f56-4ab0-9011-0b8c51ba3ded" providerId="ADAL" clId="{D8641BA3-117F-4133-919C-C2CF64912E39}" dt="2026-07-15T12:24:42.156" v="2008" actId="478"/>
          <ac:spMkLst>
            <pc:docMk/>
            <pc:sldMk cId="0" sldId="259"/>
            <ac:spMk id="35" creationId="{FAC53BEA-C22A-58E2-8CFA-0BA7EB035FF5}"/>
          </ac:spMkLst>
        </pc:spChg>
        <pc:spChg chg="mod">
          <ac:chgData name="Christopher Ojeda (Nokia)" userId="e11bd2ac-5f56-4ab0-9011-0b8c51ba3ded" providerId="ADAL" clId="{D8641BA3-117F-4133-919C-C2CF64912E39}" dt="2026-07-07T04:41:53.269" v="1627" actId="6549"/>
          <ac:spMkLst>
            <pc:docMk/>
            <pc:sldMk cId="0" sldId="259"/>
            <ac:spMk id="36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7-07T04:41:48.573" v="1626" actId="6549"/>
          <ac:spMkLst>
            <pc:docMk/>
            <pc:sldMk cId="0" sldId="259"/>
            <ac:spMk id="41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7-15T12:23:42.346" v="1995" actId="1076"/>
          <ac:spMkLst>
            <pc:docMk/>
            <pc:sldMk cId="0" sldId="259"/>
            <ac:spMk id="44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7-15T12:23:50.200" v="1996" actId="1076"/>
          <ac:spMkLst>
            <pc:docMk/>
            <pc:sldMk cId="0" sldId="259"/>
            <ac:spMk id="45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7-15T12:39:46.560" v="2033" actId="1076"/>
          <ac:spMkLst>
            <pc:docMk/>
            <pc:sldMk cId="0" sldId="259"/>
            <ac:spMk id="46" creationId="{00000000-0000-0000-0000-000000000000}"/>
          </ac:spMkLst>
        </pc:spChg>
        <pc:spChg chg="del mod">
          <ac:chgData name="Christopher Ojeda (Nokia)" userId="e11bd2ac-5f56-4ab0-9011-0b8c51ba3ded" providerId="ADAL" clId="{D8641BA3-117F-4133-919C-C2CF64912E39}" dt="2026-07-15T12:25:04.625" v="2015" actId="478"/>
          <ac:spMkLst>
            <pc:docMk/>
            <pc:sldMk cId="0" sldId="259"/>
            <ac:spMk id="47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7-15T12:39:48.923" v="2034" actId="1076"/>
          <ac:spMkLst>
            <pc:docMk/>
            <pc:sldMk cId="0" sldId="259"/>
            <ac:spMk id="48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7-15T12:40:07.659" v="2037" actId="20577"/>
          <ac:spMkLst>
            <pc:docMk/>
            <pc:sldMk cId="0" sldId="259"/>
            <ac:spMk id="49" creationId="{00000000-0000-0000-0000-000000000000}"/>
          </ac:spMkLst>
        </pc:spChg>
        <pc:spChg chg="del mod">
          <ac:chgData name="Christopher Ojeda (Nokia)" userId="e11bd2ac-5f56-4ab0-9011-0b8c51ba3ded" providerId="ADAL" clId="{D8641BA3-117F-4133-919C-C2CF64912E39}" dt="2026-07-15T12:24:49.183" v="2011" actId="478"/>
          <ac:spMkLst>
            <pc:docMk/>
            <pc:sldMk cId="0" sldId="259"/>
            <ac:spMk id="52" creationId="{00000000-0000-0000-0000-000000000000}"/>
          </ac:spMkLst>
        </pc:spChg>
        <pc:spChg chg="del mod">
          <ac:chgData name="Christopher Ojeda (Nokia)" userId="e11bd2ac-5f56-4ab0-9011-0b8c51ba3ded" providerId="ADAL" clId="{D8641BA3-117F-4133-919C-C2CF64912E39}" dt="2026-07-15T12:24:35.384" v="2006" actId="478"/>
          <ac:spMkLst>
            <pc:docMk/>
            <pc:sldMk cId="0" sldId="259"/>
            <ac:spMk id="57" creationId="{00000000-0000-0000-0000-000000000000}"/>
          </ac:spMkLst>
        </pc:spChg>
      </pc:sldChg>
      <pc:sldChg chg="modSp mod ord">
        <pc:chgData name="Christopher Ojeda (Nokia)" userId="e11bd2ac-5f56-4ab0-9011-0b8c51ba3ded" providerId="ADAL" clId="{D8641BA3-117F-4133-919C-C2CF64912E39}" dt="2026-06-30T15:41:00.952" v="414" actId="20577"/>
        <pc:sldMkLst>
          <pc:docMk/>
          <pc:sldMk cId="0" sldId="260"/>
        </pc:sldMkLst>
        <pc:spChg chg="mod">
          <ac:chgData name="Christopher Ojeda (Nokia)" userId="e11bd2ac-5f56-4ab0-9011-0b8c51ba3ded" providerId="ADAL" clId="{D8641BA3-117F-4133-919C-C2CF64912E39}" dt="2026-06-30T15:41:00.952" v="414" actId="20577"/>
          <ac:spMkLst>
            <pc:docMk/>
            <pc:sldMk cId="0" sldId="260"/>
            <ac:spMk id="11" creationId="{00000000-0000-0000-0000-000000000000}"/>
          </ac:spMkLst>
        </pc:spChg>
      </pc:sldChg>
      <pc:sldChg chg="modSp mod">
        <pc:chgData name="Christopher Ojeda (Nokia)" userId="e11bd2ac-5f56-4ab0-9011-0b8c51ba3ded" providerId="ADAL" clId="{D8641BA3-117F-4133-919C-C2CF64912E39}" dt="2026-07-15T12:22:37.475" v="1987" actId="20577"/>
        <pc:sldMkLst>
          <pc:docMk/>
          <pc:sldMk cId="0" sldId="261"/>
        </pc:sldMkLst>
        <pc:spChg chg="mod">
          <ac:chgData name="Christopher Ojeda (Nokia)" userId="e11bd2ac-5f56-4ab0-9011-0b8c51ba3ded" providerId="ADAL" clId="{D8641BA3-117F-4133-919C-C2CF64912E39}" dt="2026-07-15T12:22:37.475" v="1987" actId="20577"/>
          <ac:spMkLst>
            <pc:docMk/>
            <pc:sldMk cId="0" sldId="261"/>
            <ac:spMk id="13" creationId="{00000000-0000-0000-0000-000000000000}"/>
          </ac:spMkLst>
        </pc:spChg>
      </pc:sldChg>
      <pc:sldChg chg="modSp mod">
        <pc:chgData name="Christopher Ojeda (Nokia)" userId="e11bd2ac-5f56-4ab0-9011-0b8c51ba3ded" providerId="ADAL" clId="{D8641BA3-117F-4133-919C-C2CF64912E39}" dt="2026-06-30T17:15:31.141" v="1505" actId="120"/>
        <pc:sldMkLst>
          <pc:docMk/>
          <pc:sldMk cId="0" sldId="262"/>
        </pc:sldMkLst>
        <pc:graphicFrameChg chg="mod modGraphic">
          <ac:chgData name="Christopher Ojeda (Nokia)" userId="e11bd2ac-5f56-4ab0-9011-0b8c51ba3ded" providerId="ADAL" clId="{D8641BA3-117F-4133-919C-C2CF64912E39}" dt="2026-06-30T17:13:17.005" v="1469" actId="20577"/>
          <ac:graphicFrameMkLst>
            <pc:docMk/>
            <pc:sldMk cId="0" sldId="262"/>
            <ac:graphicFrameMk id="9" creationId="{00000000-0000-0000-0000-000000000000}"/>
          </ac:graphicFrameMkLst>
        </pc:graphicFrameChg>
        <pc:graphicFrameChg chg="modGraphic">
          <ac:chgData name="Christopher Ojeda (Nokia)" userId="e11bd2ac-5f56-4ab0-9011-0b8c51ba3ded" providerId="ADAL" clId="{D8641BA3-117F-4133-919C-C2CF64912E39}" dt="2026-06-30T17:15:31.141" v="1505" actId="120"/>
          <ac:graphicFrameMkLst>
            <pc:docMk/>
            <pc:sldMk cId="0" sldId="262"/>
            <ac:graphicFrameMk id="15" creationId="{00000000-0000-0000-0000-000000000000}"/>
          </ac:graphicFrameMkLst>
        </pc:graphicFrameChg>
      </pc:sldChg>
      <pc:sldChg chg="modSp mod">
        <pc:chgData name="Christopher Ojeda (Nokia)" userId="e11bd2ac-5f56-4ab0-9011-0b8c51ba3ded" providerId="ADAL" clId="{D8641BA3-117F-4133-919C-C2CF64912E39}" dt="2026-07-15T12:21:58.546" v="1981" actId="20577"/>
        <pc:sldMkLst>
          <pc:docMk/>
          <pc:sldMk cId="0" sldId="263"/>
        </pc:sldMkLst>
        <pc:spChg chg="mod">
          <ac:chgData name="Christopher Ojeda (Nokia)" userId="e11bd2ac-5f56-4ab0-9011-0b8c51ba3ded" providerId="ADAL" clId="{D8641BA3-117F-4133-919C-C2CF64912E39}" dt="2026-07-07T05:13:54.261" v="1660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7-15T12:21:58.546" v="1981" actId="20577"/>
          <ac:spMkLst>
            <pc:docMk/>
            <pc:sldMk cId="0" sldId="263"/>
            <ac:spMk id="8" creationId="{00000000-0000-0000-0000-000000000000}"/>
          </ac:spMkLst>
        </pc:spChg>
        <pc:graphicFrameChg chg="modGraphic">
          <ac:chgData name="Christopher Ojeda (Nokia)" userId="e11bd2ac-5f56-4ab0-9011-0b8c51ba3ded" providerId="ADAL" clId="{D8641BA3-117F-4133-919C-C2CF64912E39}" dt="2026-07-15T12:21:55.363" v="1978" actId="6549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Christopher Ojeda (Nokia)" userId="e11bd2ac-5f56-4ab0-9011-0b8c51ba3ded" providerId="ADAL" clId="{D8641BA3-117F-4133-919C-C2CF64912E39}" dt="2026-07-15T12:22:20.320" v="1985" actId="2164"/>
        <pc:sldMkLst>
          <pc:docMk/>
          <pc:sldMk cId="0" sldId="264"/>
        </pc:sldMkLst>
        <pc:spChg chg="mod">
          <ac:chgData name="Christopher Ojeda (Nokia)" userId="e11bd2ac-5f56-4ab0-9011-0b8c51ba3ded" providerId="ADAL" clId="{D8641BA3-117F-4133-919C-C2CF64912E39}" dt="2026-06-23T16:00:14.921" v="99" actId="20577"/>
          <ac:spMkLst>
            <pc:docMk/>
            <pc:sldMk cId="0" sldId="264"/>
            <ac:spMk id="4" creationId="{00000000-0000-0000-0000-000000000000}"/>
          </ac:spMkLst>
        </pc:spChg>
        <pc:graphicFrameChg chg="modGraphic">
          <ac:chgData name="Christopher Ojeda (Nokia)" userId="e11bd2ac-5f56-4ab0-9011-0b8c51ba3ded" providerId="ADAL" clId="{D8641BA3-117F-4133-919C-C2CF64912E39}" dt="2026-07-15T12:22:20.320" v="1985" actId="2164"/>
          <ac:graphicFrameMkLst>
            <pc:docMk/>
            <pc:sldMk cId="0" sldId="264"/>
            <ac:graphicFrameMk id="8" creationId="{93100211-95F3-CC27-0CAE-AEFFF218D3D6}"/>
          </ac:graphicFrameMkLst>
        </pc:graphicFrameChg>
      </pc:sldChg>
      <pc:sldChg chg="del">
        <pc:chgData name="Christopher Ojeda (Nokia)" userId="e11bd2ac-5f56-4ab0-9011-0b8c51ba3ded" providerId="ADAL" clId="{D8641BA3-117F-4133-919C-C2CF64912E39}" dt="2026-07-14T16:06:40.853" v="1680" actId="47"/>
        <pc:sldMkLst>
          <pc:docMk/>
          <pc:sldMk cId="0" sldId="268"/>
        </pc:sldMkLst>
      </pc:sldChg>
      <pc:sldChg chg="del">
        <pc:chgData name="Christopher Ojeda (Nokia)" userId="e11bd2ac-5f56-4ab0-9011-0b8c51ba3ded" providerId="ADAL" clId="{D8641BA3-117F-4133-919C-C2CF64912E39}" dt="2026-07-14T16:06:44.825" v="1681" actId="47"/>
        <pc:sldMkLst>
          <pc:docMk/>
          <pc:sldMk cId="0" sldId="269"/>
        </pc:sldMkLst>
      </pc:sldChg>
      <pc:sldChg chg="modSp del mod">
        <pc:chgData name="Christopher Ojeda (Nokia)" userId="e11bd2ac-5f56-4ab0-9011-0b8c51ba3ded" providerId="ADAL" clId="{D8641BA3-117F-4133-919C-C2CF64912E39}" dt="2026-07-14T16:06:47.361" v="1682" actId="47"/>
        <pc:sldMkLst>
          <pc:docMk/>
          <pc:sldMk cId="0" sldId="270"/>
        </pc:sldMkLst>
      </pc:sldChg>
      <pc:sldChg chg="modSp mod">
        <pc:chgData name="Christopher Ojeda (Nokia)" userId="e11bd2ac-5f56-4ab0-9011-0b8c51ba3ded" providerId="ADAL" clId="{D8641BA3-117F-4133-919C-C2CF64912E39}" dt="2026-06-23T16:23:33.568" v="154" actId="20577"/>
        <pc:sldMkLst>
          <pc:docMk/>
          <pc:sldMk cId="0" sldId="271"/>
        </pc:sldMkLst>
        <pc:spChg chg="mod">
          <ac:chgData name="Christopher Ojeda (Nokia)" userId="e11bd2ac-5f56-4ab0-9011-0b8c51ba3ded" providerId="ADAL" clId="{D8641BA3-117F-4133-919C-C2CF64912E39}" dt="2026-06-23T16:22:48.051" v="139" actId="20577"/>
          <ac:spMkLst>
            <pc:docMk/>
            <pc:sldMk cId="0" sldId="271"/>
            <ac:spMk id="20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6-23T16:23:29.659" v="151" actId="20577"/>
          <ac:spMkLst>
            <pc:docMk/>
            <pc:sldMk cId="0" sldId="271"/>
            <ac:spMk id="24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6-23T16:23:33.568" v="154" actId="20577"/>
          <ac:spMkLst>
            <pc:docMk/>
            <pc:sldMk cId="0" sldId="271"/>
            <ac:spMk id="28" creationId="{00000000-0000-0000-0000-000000000000}"/>
          </ac:spMkLst>
        </pc:spChg>
      </pc:sldChg>
      <pc:sldChg chg="modSp mod">
        <pc:chgData name="Christopher Ojeda (Nokia)" userId="e11bd2ac-5f56-4ab0-9011-0b8c51ba3ded" providerId="ADAL" clId="{D8641BA3-117F-4133-919C-C2CF64912E39}" dt="2026-06-30T16:54:17.420" v="1190" actId="1076"/>
        <pc:sldMkLst>
          <pc:docMk/>
          <pc:sldMk cId="0" sldId="273"/>
        </pc:sldMkLst>
        <pc:graphicFrameChg chg="mod">
          <ac:chgData name="Christopher Ojeda (Nokia)" userId="e11bd2ac-5f56-4ab0-9011-0b8c51ba3ded" providerId="ADAL" clId="{D8641BA3-117F-4133-919C-C2CF64912E39}" dt="2026-06-30T16:54:17.420" v="1190" actId="1076"/>
          <ac:graphicFrameMkLst>
            <pc:docMk/>
            <pc:sldMk cId="0" sldId="273"/>
            <ac:graphicFrameMk id="37" creationId="{00000000-0000-0000-0000-000000000000}"/>
          </ac:graphicFrameMkLst>
        </pc:graphicFrameChg>
      </pc:sldChg>
      <pc:sldChg chg="modSp mod">
        <pc:chgData name="Christopher Ojeda (Nokia)" userId="e11bd2ac-5f56-4ab0-9011-0b8c51ba3ded" providerId="ADAL" clId="{D8641BA3-117F-4133-919C-C2CF64912E39}" dt="2026-06-30T16:57:15.039" v="1200" actId="14100"/>
        <pc:sldMkLst>
          <pc:docMk/>
          <pc:sldMk cId="0" sldId="276"/>
        </pc:sldMkLst>
        <pc:spChg chg="mod">
          <ac:chgData name="Christopher Ojeda (Nokia)" userId="e11bd2ac-5f56-4ab0-9011-0b8c51ba3ded" providerId="ADAL" clId="{D8641BA3-117F-4133-919C-C2CF64912E39}" dt="2026-06-30T16:57:15.039" v="1200" actId="14100"/>
          <ac:spMkLst>
            <pc:docMk/>
            <pc:sldMk cId="0" sldId="276"/>
            <ac:spMk id="10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6-30T16:56:58.539" v="1198" actId="14100"/>
          <ac:spMkLst>
            <pc:docMk/>
            <pc:sldMk cId="0" sldId="276"/>
            <ac:spMk id="11" creationId="{00000000-0000-0000-0000-000000000000}"/>
          </ac:spMkLst>
        </pc:spChg>
        <pc:graphicFrameChg chg="mod">
          <ac:chgData name="Christopher Ojeda (Nokia)" userId="e11bd2ac-5f56-4ab0-9011-0b8c51ba3ded" providerId="ADAL" clId="{D8641BA3-117F-4133-919C-C2CF64912E39}" dt="2026-06-30T16:56:21.829" v="1191" actId="1076"/>
          <ac:graphicFrameMkLst>
            <pc:docMk/>
            <pc:sldMk cId="0" sldId="276"/>
            <ac:graphicFrameMk id="43" creationId="{00000000-0000-0000-0000-000000000000}"/>
          </ac:graphicFrameMkLst>
        </pc:graphicFrameChg>
      </pc:sldChg>
      <pc:sldChg chg="modSp mod">
        <pc:chgData name="Christopher Ojeda (Nokia)" userId="e11bd2ac-5f56-4ab0-9011-0b8c51ba3ded" providerId="ADAL" clId="{D8641BA3-117F-4133-919C-C2CF64912E39}" dt="2026-07-14T16:11:49.729" v="1731" actId="6549"/>
        <pc:sldMkLst>
          <pc:docMk/>
          <pc:sldMk cId="0" sldId="278"/>
        </pc:sldMkLst>
        <pc:spChg chg="mod">
          <ac:chgData name="Christopher Ojeda (Nokia)" userId="e11bd2ac-5f56-4ab0-9011-0b8c51ba3ded" providerId="ADAL" clId="{D8641BA3-117F-4133-919C-C2CF64912E39}" dt="2026-07-14T16:10:50.564" v="1729" actId="20577"/>
          <ac:spMkLst>
            <pc:docMk/>
            <pc:sldMk cId="0" sldId="278"/>
            <ac:spMk id="4" creationId="{00000000-0000-0000-0000-000000000000}"/>
          </ac:spMkLst>
        </pc:spChg>
        <pc:graphicFrameChg chg="modGraphic">
          <ac:chgData name="Christopher Ojeda (Nokia)" userId="e11bd2ac-5f56-4ab0-9011-0b8c51ba3ded" providerId="ADAL" clId="{D8641BA3-117F-4133-919C-C2CF64912E39}" dt="2026-07-14T16:11:49.729" v="1731" actId="6549"/>
          <ac:graphicFrameMkLst>
            <pc:docMk/>
            <pc:sldMk cId="0" sldId="278"/>
            <ac:graphicFrameMk id="24" creationId="{00000000-0000-0000-0000-000000000000}"/>
          </ac:graphicFrameMkLst>
        </pc:graphicFrameChg>
      </pc:sldChg>
      <pc:sldChg chg="modSp mod">
        <pc:chgData name="Christopher Ojeda (Nokia)" userId="e11bd2ac-5f56-4ab0-9011-0b8c51ba3ded" providerId="ADAL" clId="{D8641BA3-117F-4133-919C-C2CF64912E39}" dt="2026-07-15T12:22:33.252" v="1986" actId="20577"/>
        <pc:sldMkLst>
          <pc:docMk/>
          <pc:sldMk cId="1010870099" sldId="292"/>
        </pc:sldMkLst>
        <pc:spChg chg="mod">
          <ac:chgData name="Christopher Ojeda (Nokia)" userId="e11bd2ac-5f56-4ab0-9011-0b8c51ba3ded" providerId="ADAL" clId="{D8641BA3-117F-4133-919C-C2CF64912E39}" dt="2026-07-15T12:22:33.252" v="1986" actId="20577"/>
          <ac:spMkLst>
            <pc:docMk/>
            <pc:sldMk cId="1010870099" sldId="292"/>
            <ac:spMk id="13" creationId="{609E34A2-9622-2EEE-573A-347DE41FF4A5}"/>
          </ac:spMkLst>
        </pc:spChg>
      </pc:sldChg>
      <pc:sldChg chg="modSp add del mod">
        <pc:chgData name="Christopher Ojeda (Nokia)" userId="e11bd2ac-5f56-4ab0-9011-0b8c51ba3ded" providerId="ADAL" clId="{D8641BA3-117F-4133-919C-C2CF64912E39}" dt="2026-07-14T16:40:53.500" v="1732" actId="47"/>
        <pc:sldMkLst>
          <pc:docMk/>
          <pc:sldMk cId="2982446667" sldId="297"/>
        </pc:sldMkLst>
        <pc:spChg chg="mod">
          <ac:chgData name="Christopher Ojeda (Nokia)" userId="e11bd2ac-5f56-4ab0-9011-0b8c51ba3ded" providerId="ADAL" clId="{D8641BA3-117F-4133-919C-C2CF64912E39}" dt="2026-07-14T16:09:00.208" v="1703" actId="6549"/>
          <ac:spMkLst>
            <pc:docMk/>
            <pc:sldMk cId="2982446667" sldId="297"/>
            <ac:spMk id="3" creationId="{1BEB4935-1AE1-95FF-F65B-14AEB5D62145}"/>
          </ac:spMkLst>
        </pc:spChg>
        <pc:spChg chg="mod">
          <ac:chgData name="Christopher Ojeda (Nokia)" userId="e11bd2ac-5f56-4ab0-9011-0b8c51ba3ded" providerId="ADAL" clId="{D8641BA3-117F-4133-919C-C2CF64912E39}" dt="2026-07-14T16:09:05.589" v="1704" actId="6549"/>
          <ac:spMkLst>
            <pc:docMk/>
            <pc:sldMk cId="2982446667" sldId="297"/>
            <ac:spMk id="4" creationId="{23630172-AC7D-A4C1-E5DB-C43600511413}"/>
          </ac:spMkLst>
        </pc:spChg>
        <pc:spChg chg="mod">
          <ac:chgData name="Christopher Ojeda (Nokia)" userId="e11bd2ac-5f56-4ab0-9011-0b8c51ba3ded" providerId="ADAL" clId="{D8641BA3-117F-4133-919C-C2CF64912E39}" dt="2026-07-14T16:09:07.610" v="1705" actId="6549"/>
          <ac:spMkLst>
            <pc:docMk/>
            <pc:sldMk cId="2982446667" sldId="297"/>
            <ac:spMk id="8" creationId="{5FEF74ED-E143-8D2E-4640-E2FB3677A6A7}"/>
          </ac:spMkLst>
        </pc:spChg>
        <pc:spChg chg="mod">
          <ac:chgData name="Christopher Ojeda (Nokia)" userId="e11bd2ac-5f56-4ab0-9011-0b8c51ba3ded" providerId="ADAL" clId="{D8641BA3-117F-4133-919C-C2CF64912E39}" dt="2026-07-14T16:09:09.287" v="1706" actId="6549"/>
          <ac:spMkLst>
            <pc:docMk/>
            <pc:sldMk cId="2982446667" sldId="297"/>
            <ac:spMk id="9" creationId="{89DC7487-2773-50D5-8825-6B0F90EA6A88}"/>
          </ac:spMkLst>
        </pc:spChg>
        <pc:spChg chg="mod">
          <ac:chgData name="Christopher Ojeda (Nokia)" userId="e11bd2ac-5f56-4ab0-9011-0b8c51ba3ded" providerId="ADAL" clId="{D8641BA3-117F-4133-919C-C2CF64912E39}" dt="2026-07-14T16:09:12.472" v="1708" actId="1076"/>
          <ac:spMkLst>
            <pc:docMk/>
            <pc:sldMk cId="2982446667" sldId="297"/>
            <ac:spMk id="10" creationId="{6F5E3305-2204-407C-CE3A-9326589240EB}"/>
          </ac:spMkLst>
        </pc:spChg>
        <pc:spChg chg="mod">
          <ac:chgData name="Christopher Ojeda (Nokia)" userId="e11bd2ac-5f56-4ab0-9011-0b8c51ba3ded" providerId="ADAL" clId="{D8641BA3-117F-4133-919C-C2CF64912E39}" dt="2026-07-14T16:09:15.100" v="1709" actId="20577"/>
          <ac:spMkLst>
            <pc:docMk/>
            <pc:sldMk cId="2982446667" sldId="297"/>
            <ac:spMk id="11" creationId="{290B0CDB-AD22-88FC-5EE1-25FA2BEAAC2F}"/>
          </ac:spMkLst>
        </pc:spChg>
        <pc:spChg chg="mod">
          <ac:chgData name="Christopher Ojeda (Nokia)" userId="e11bd2ac-5f56-4ab0-9011-0b8c51ba3ded" providerId="ADAL" clId="{D8641BA3-117F-4133-919C-C2CF64912E39}" dt="2026-07-14T16:09:16.595" v="1710" actId="20577"/>
          <ac:spMkLst>
            <pc:docMk/>
            <pc:sldMk cId="2982446667" sldId="297"/>
            <ac:spMk id="12" creationId="{AADA6FFD-B6EF-2D01-96EF-99852E88A673}"/>
          </ac:spMkLst>
        </pc:spChg>
        <pc:spChg chg="mod">
          <ac:chgData name="Christopher Ojeda (Nokia)" userId="e11bd2ac-5f56-4ab0-9011-0b8c51ba3ded" providerId="ADAL" clId="{D8641BA3-117F-4133-919C-C2CF64912E39}" dt="2026-07-14T16:09:18.986" v="1711" actId="6549"/>
          <ac:spMkLst>
            <pc:docMk/>
            <pc:sldMk cId="2982446667" sldId="297"/>
            <ac:spMk id="14" creationId="{DF5439D2-801C-1E20-4D82-5B59B4B9AEEF}"/>
          </ac:spMkLst>
        </pc:spChg>
        <pc:spChg chg="mod">
          <ac:chgData name="Christopher Ojeda (Nokia)" userId="e11bd2ac-5f56-4ab0-9011-0b8c51ba3ded" providerId="ADAL" clId="{D8641BA3-117F-4133-919C-C2CF64912E39}" dt="2026-07-14T16:09:20.902" v="1712" actId="20577"/>
          <ac:spMkLst>
            <pc:docMk/>
            <pc:sldMk cId="2982446667" sldId="297"/>
            <ac:spMk id="15" creationId="{0C710B80-92B7-27FF-0481-EE8810CFE7AC}"/>
          </ac:spMkLst>
        </pc:spChg>
        <pc:spChg chg="mod">
          <ac:chgData name="Christopher Ojeda (Nokia)" userId="e11bd2ac-5f56-4ab0-9011-0b8c51ba3ded" providerId="ADAL" clId="{D8641BA3-117F-4133-919C-C2CF64912E39}" dt="2026-07-14T16:09:40.055" v="1720" actId="20577"/>
          <ac:spMkLst>
            <pc:docMk/>
            <pc:sldMk cId="2982446667" sldId="297"/>
            <ac:spMk id="17" creationId="{3E41C3E2-F126-291C-D29E-0BDB0120AEF7}"/>
          </ac:spMkLst>
        </pc:spChg>
        <pc:spChg chg="mod">
          <ac:chgData name="Christopher Ojeda (Nokia)" userId="e11bd2ac-5f56-4ab0-9011-0b8c51ba3ded" providerId="ADAL" clId="{D8641BA3-117F-4133-919C-C2CF64912E39}" dt="2026-07-14T16:09:33.903" v="1717" actId="1076"/>
          <ac:spMkLst>
            <pc:docMk/>
            <pc:sldMk cId="2982446667" sldId="297"/>
            <ac:spMk id="18" creationId="{D12880D6-345C-2C7B-937B-BB8E53D24309}"/>
          </ac:spMkLst>
        </pc:spChg>
        <pc:spChg chg="mod">
          <ac:chgData name="Christopher Ojeda (Nokia)" userId="e11bd2ac-5f56-4ab0-9011-0b8c51ba3ded" providerId="ADAL" clId="{D8641BA3-117F-4133-919C-C2CF64912E39}" dt="2026-07-14T16:09:35.318" v="1718" actId="20577"/>
          <ac:spMkLst>
            <pc:docMk/>
            <pc:sldMk cId="2982446667" sldId="297"/>
            <ac:spMk id="20" creationId="{9713471B-D0B2-98DF-FE76-5856EE4B5C1E}"/>
          </ac:spMkLst>
        </pc:spChg>
        <pc:spChg chg="mod">
          <ac:chgData name="Christopher Ojeda (Nokia)" userId="e11bd2ac-5f56-4ab0-9011-0b8c51ba3ded" providerId="ADAL" clId="{D8641BA3-117F-4133-919C-C2CF64912E39}" dt="2026-07-14T16:09:37.786" v="1719" actId="20577"/>
          <ac:spMkLst>
            <pc:docMk/>
            <pc:sldMk cId="2982446667" sldId="297"/>
            <ac:spMk id="21" creationId="{FBD982F6-7EF2-5EB5-D0C9-D894262BB4DC}"/>
          </ac:spMkLst>
        </pc:spChg>
        <pc:spChg chg="mod">
          <ac:chgData name="Christopher Ojeda (Nokia)" userId="e11bd2ac-5f56-4ab0-9011-0b8c51ba3ded" providerId="ADAL" clId="{D8641BA3-117F-4133-919C-C2CF64912E39}" dt="2026-07-14T16:09:28.921" v="1715" actId="6549"/>
          <ac:spMkLst>
            <pc:docMk/>
            <pc:sldMk cId="2982446667" sldId="297"/>
            <ac:spMk id="24" creationId="{48CD2AE8-8DE9-67C3-1DD4-310525D243AB}"/>
          </ac:spMkLst>
        </pc:spChg>
        <pc:spChg chg="mod">
          <ac:chgData name="Christopher Ojeda (Nokia)" userId="e11bd2ac-5f56-4ab0-9011-0b8c51ba3ded" providerId="ADAL" clId="{D8641BA3-117F-4133-919C-C2CF64912E39}" dt="2026-07-14T16:09:31.182" v="1716" actId="20577"/>
          <ac:spMkLst>
            <pc:docMk/>
            <pc:sldMk cId="2982446667" sldId="297"/>
            <ac:spMk id="25" creationId="{E9E8D6C9-7989-AB2A-B358-FB69F7A9616A}"/>
          </ac:spMkLst>
        </pc:spChg>
        <pc:spChg chg="mod">
          <ac:chgData name="Christopher Ojeda (Nokia)" userId="e11bd2ac-5f56-4ab0-9011-0b8c51ba3ded" providerId="ADAL" clId="{D8641BA3-117F-4133-919C-C2CF64912E39}" dt="2026-07-14T16:09:22.872" v="1713" actId="20577"/>
          <ac:spMkLst>
            <pc:docMk/>
            <pc:sldMk cId="2982446667" sldId="297"/>
            <ac:spMk id="28" creationId="{8F538063-D6D1-2F5C-A74C-43C2D7FC0F28}"/>
          </ac:spMkLst>
        </pc:spChg>
        <pc:spChg chg="mod">
          <ac:chgData name="Christopher Ojeda (Nokia)" userId="e11bd2ac-5f56-4ab0-9011-0b8c51ba3ded" providerId="ADAL" clId="{D8641BA3-117F-4133-919C-C2CF64912E39}" dt="2026-07-14T16:09:26.037" v="1714" actId="20577"/>
          <ac:spMkLst>
            <pc:docMk/>
            <pc:sldMk cId="2982446667" sldId="297"/>
            <ac:spMk id="29" creationId="{C2ADA6D8-4FB3-328F-6237-7ECA5950A1E1}"/>
          </ac:spMkLst>
        </pc:spChg>
        <pc:spChg chg="mod">
          <ac:chgData name="Christopher Ojeda (Nokia)" userId="e11bd2ac-5f56-4ab0-9011-0b8c51ba3ded" providerId="ADAL" clId="{D8641BA3-117F-4133-919C-C2CF64912E39}" dt="2026-07-14T16:09:42.582" v="1721" actId="20577"/>
          <ac:spMkLst>
            <pc:docMk/>
            <pc:sldMk cId="2982446667" sldId="297"/>
            <ac:spMk id="31" creationId="{A2CB7C54-37D1-26F8-4867-D2C151605502}"/>
          </ac:spMkLst>
        </pc:spChg>
      </pc:sldChg>
      <pc:sldChg chg="modSp add mod ord">
        <pc:chgData name="Christopher Ojeda (Nokia)" userId="e11bd2ac-5f56-4ab0-9011-0b8c51ba3ded" providerId="ADAL" clId="{D8641BA3-117F-4133-919C-C2CF64912E39}" dt="2026-07-14T19:16:20.673" v="1911" actId="20577"/>
        <pc:sldMkLst>
          <pc:docMk/>
          <pc:sldMk cId="4226695683" sldId="297"/>
        </pc:sldMkLst>
        <pc:spChg chg="mod">
          <ac:chgData name="Christopher Ojeda (Nokia)" userId="e11bd2ac-5f56-4ab0-9011-0b8c51ba3ded" providerId="ADAL" clId="{D8641BA3-117F-4133-919C-C2CF64912E39}" dt="2026-07-14T16:41:25.468" v="1753" actId="20577"/>
          <ac:spMkLst>
            <pc:docMk/>
            <pc:sldMk cId="4226695683" sldId="297"/>
            <ac:spMk id="3" creationId="{526CBA69-670C-4A6E-4233-82FE0441F083}"/>
          </ac:spMkLst>
        </pc:spChg>
        <pc:spChg chg="mod">
          <ac:chgData name="Christopher Ojeda (Nokia)" userId="e11bd2ac-5f56-4ab0-9011-0b8c51ba3ded" providerId="ADAL" clId="{D8641BA3-117F-4133-919C-C2CF64912E39}" dt="2026-07-14T16:41:33.174" v="1775" actId="20577"/>
          <ac:spMkLst>
            <pc:docMk/>
            <pc:sldMk cId="4226695683" sldId="297"/>
            <ac:spMk id="4" creationId="{244F1646-444E-8C72-01A0-319EA5666F22}"/>
          </ac:spMkLst>
        </pc:spChg>
        <pc:spChg chg="mod">
          <ac:chgData name="Christopher Ojeda (Nokia)" userId="e11bd2ac-5f56-4ab0-9011-0b8c51ba3ded" providerId="ADAL" clId="{D8641BA3-117F-4133-919C-C2CF64912E39}" dt="2026-07-14T19:16:20.673" v="1911" actId="20577"/>
          <ac:spMkLst>
            <pc:docMk/>
            <pc:sldMk cId="4226695683" sldId="297"/>
            <ac:spMk id="9" creationId="{52506533-D34C-AD36-039D-B28522A98F9A}"/>
          </ac:spMkLst>
        </pc:spChg>
      </pc:sldChg>
      <pc:sldChg chg="modSp add del mod">
        <pc:chgData name="Christopher Ojeda (Nokia)" userId="e11bd2ac-5f56-4ab0-9011-0b8c51ba3ded" providerId="ADAL" clId="{D8641BA3-117F-4133-919C-C2CF64912E39}" dt="2026-07-14T16:40:55.493" v="1733" actId="47"/>
        <pc:sldMkLst>
          <pc:docMk/>
          <pc:sldMk cId="1919566109" sldId="298"/>
        </pc:sldMkLst>
        <pc:spChg chg="mod">
          <ac:chgData name="Christopher Ojeda (Nokia)" userId="e11bd2ac-5f56-4ab0-9011-0b8c51ba3ded" providerId="ADAL" clId="{D8641BA3-117F-4133-919C-C2CF64912E39}" dt="2026-07-14T16:08:47.772" v="1702" actId="6549"/>
          <ac:spMkLst>
            <pc:docMk/>
            <pc:sldMk cId="1919566109" sldId="298"/>
            <ac:spMk id="3" creationId="{21056126-1C28-6C57-7CE4-CC81905CBB0C}"/>
          </ac:spMkLst>
        </pc:spChg>
        <pc:spChg chg="mod">
          <ac:chgData name="Christopher Ojeda (Nokia)" userId="e11bd2ac-5f56-4ab0-9011-0b8c51ba3ded" providerId="ADAL" clId="{D8641BA3-117F-4133-919C-C2CF64912E39}" dt="2026-07-14T16:10:12.594" v="1726" actId="6549"/>
          <ac:spMkLst>
            <pc:docMk/>
            <pc:sldMk cId="1919566109" sldId="298"/>
            <ac:spMk id="4" creationId="{15BB0262-830D-72DE-9602-E11FE21A3F1B}"/>
          </ac:spMkLst>
        </pc:spChg>
        <pc:spChg chg="mod">
          <ac:chgData name="Christopher Ojeda (Nokia)" userId="e11bd2ac-5f56-4ab0-9011-0b8c51ba3ded" providerId="ADAL" clId="{D8641BA3-117F-4133-919C-C2CF64912E39}" dt="2026-07-14T16:10:40.433" v="1727" actId="6549"/>
          <ac:spMkLst>
            <pc:docMk/>
            <pc:sldMk cId="1919566109" sldId="298"/>
            <ac:spMk id="5" creationId="{9B8FFB92-6F12-2847-FA84-05F0C0FFCAAA}"/>
          </ac:spMkLst>
        </pc:spChg>
        <pc:graphicFrameChg chg="modGraphic">
          <ac:chgData name="Christopher Ojeda (Nokia)" userId="e11bd2ac-5f56-4ab0-9011-0b8c51ba3ded" providerId="ADAL" clId="{D8641BA3-117F-4133-919C-C2CF64912E39}" dt="2026-07-14T16:10:09.970" v="1725" actId="6549"/>
          <ac:graphicFrameMkLst>
            <pc:docMk/>
            <pc:sldMk cId="1919566109" sldId="298"/>
            <ac:graphicFrameMk id="21" creationId="{6271F56C-5E5F-C20D-9E6D-C47D3FDBD51F}"/>
          </ac:graphicFrameMkLst>
        </pc:graphicFrameChg>
      </pc:sldChg>
      <pc:sldChg chg="modSp add mod">
        <pc:chgData name="Christopher Ojeda (Nokia)" userId="e11bd2ac-5f56-4ab0-9011-0b8c51ba3ded" providerId="ADAL" clId="{D8641BA3-117F-4133-919C-C2CF64912E39}" dt="2026-07-14T16:41:41.986" v="1791" actId="20577"/>
        <pc:sldMkLst>
          <pc:docMk/>
          <pc:sldMk cId="2614874823" sldId="298"/>
        </pc:sldMkLst>
        <pc:spChg chg="mod">
          <ac:chgData name="Christopher Ojeda (Nokia)" userId="e11bd2ac-5f56-4ab0-9011-0b8c51ba3ded" providerId="ADAL" clId="{D8641BA3-117F-4133-919C-C2CF64912E39}" dt="2026-07-14T16:41:41.986" v="1791" actId="20577"/>
          <ac:spMkLst>
            <pc:docMk/>
            <pc:sldMk cId="2614874823" sldId="298"/>
            <ac:spMk id="4" creationId="{A3789443-A0BE-6931-7A5E-937C9BCB98D1}"/>
          </ac:spMkLst>
        </pc:spChg>
      </pc:sldChg>
      <pc:sldChg chg="add del">
        <pc:chgData name="Christopher Ojeda (Nokia)" userId="e11bd2ac-5f56-4ab0-9011-0b8c51ba3ded" providerId="ADAL" clId="{D8641BA3-117F-4133-919C-C2CF64912E39}" dt="2026-07-14T16:09:54.338" v="1722" actId="47"/>
        <pc:sldMkLst>
          <pc:docMk/>
          <pc:sldMk cId="159807751" sldId="299"/>
        </pc:sldMkLst>
      </pc:sldChg>
      <pc:sldChg chg="modSp add mod">
        <pc:chgData name="Christopher Ojeda (Nokia)" userId="e11bd2ac-5f56-4ab0-9011-0b8c51ba3ded" providerId="ADAL" clId="{D8641BA3-117F-4133-919C-C2CF64912E39}" dt="2026-07-14T16:41:50.067" v="1809" actId="20577"/>
        <pc:sldMkLst>
          <pc:docMk/>
          <pc:sldMk cId="2717720333" sldId="299"/>
        </pc:sldMkLst>
        <pc:spChg chg="mod">
          <ac:chgData name="Christopher Ojeda (Nokia)" userId="e11bd2ac-5f56-4ab0-9011-0b8c51ba3ded" providerId="ADAL" clId="{D8641BA3-117F-4133-919C-C2CF64912E39}" dt="2026-07-14T16:41:50.067" v="1809" actId="20577"/>
          <ac:spMkLst>
            <pc:docMk/>
            <pc:sldMk cId="2717720333" sldId="299"/>
            <ac:spMk id="4" creationId="{23A4BA03-F2B4-2A39-3292-927E33DDFB32}"/>
          </ac:spMkLst>
        </pc:spChg>
      </pc:sldChg>
      <pc:sldChg chg="modSp add mod">
        <pc:chgData name="Christopher Ojeda (Nokia)" userId="e11bd2ac-5f56-4ab0-9011-0b8c51ba3ded" providerId="ADAL" clId="{D8641BA3-117F-4133-919C-C2CF64912E39}" dt="2026-07-14T19:15:47.582" v="1859" actId="20577"/>
        <pc:sldMkLst>
          <pc:docMk/>
          <pc:sldMk cId="2422860260" sldId="300"/>
        </pc:sldMkLst>
        <pc:spChg chg="mod">
          <ac:chgData name="Christopher Ojeda (Nokia)" userId="e11bd2ac-5f56-4ab0-9011-0b8c51ba3ded" providerId="ADAL" clId="{D8641BA3-117F-4133-919C-C2CF64912E39}" dt="2026-07-14T19:15:35.094" v="1827" actId="20577"/>
          <ac:spMkLst>
            <pc:docMk/>
            <pc:sldMk cId="2422860260" sldId="300"/>
            <ac:spMk id="3" creationId="{D5F7E820-CD9B-2ECD-8D71-0639237BC811}"/>
          </ac:spMkLst>
        </pc:spChg>
        <pc:spChg chg="mod">
          <ac:chgData name="Christopher Ojeda (Nokia)" userId="e11bd2ac-5f56-4ab0-9011-0b8c51ba3ded" providerId="ADAL" clId="{D8641BA3-117F-4133-919C-C2CF64912E39}" dt="2026-07-14T19:15:41.656" v="1842" actId="20577"/>
          <ac:spMkLst>
            <pc:docMk/>
            <pc:sldMk cId="2422860260" sldId="300"/>
            <ac:spMk id="4" creationId="{CF692127-5CDB-5126-DD43-EB941E442B9E}"/>
          </ac:spMkLst>
        </pc:spChg>
        <pc:spChg chg="mod">
          <ac:chgData name="Christopher Ojeda (Nokia)" userId="e11bd2ac-5f56-4ab0-9011-0b8c51ba3ded" providerId="ADAL" clId="{D8641BA3-117F-4133-919C-C2CF64912E39}" dt="2026-07-14T19:15:47.582" v="1859" actId="20577"/>
          <ac:spMkLst>
            <pc:docMk/>
            <pc:sldMk cId="2422860260" sldId="300"/>
            <ac:spMk id="9" creationId="{B710E4C9-96F8-703E-78AF-192C7CEA601A}"/>
          </ac:spMkLst>
        </pc:spChg>
      </pc:sldChg>
      <pc:sldChg chg="modSp add del mod">
        <pc:chgData name="Christopher Ojeda (Nokia)" userId="e11bd2ac-5f56-4ab0-9011-0b8c51ba3ded" providerId="ADAL" clId="{D8641BA3-117F-4133-919C-C2CF64912E39}" dt="2026-07-14T16:41:01.239" v="1734" actId="47"/>
        <pc:sldMkLst>
          <pc:docMk/>
          <pc:sldMk cId="2700215762" sldId="300"/>
        </pc:sldMkLst>
        <pc:spChg chg="mod">
          <ac:chgData name="Christopher Ojeda (Nokia)" userId="e11bd2ac-5f56-4ab0-9011-0b8c51ba3ded" providerId="ADAL" clId="{D8641BA3-117F-4133-919C-C2CF64912E39}" dt="2026-07-14T16:08:22.971" v="1697" actId="6549"/>
          <ac:spMkLst>
            <pc:docMk/>
            <pc:sldMk cId="2700215762" sldId="300"/>
            <ac:spMk id="3" creationId="{4DD30E78-6636-8B2A-0695-BC9D463B131F}"/>
          </ac:spMkLst>
        </pc:spChg>
        <pc:spChg chg="mod">
          <ac:chgData name="Christopher Ojeda (Nokia)" userId="e11bd2ac-5f56-4ab0-9011-0b8c51ba3ded" providerId="ADAL" clId="{D8641BA3-117F-4133-919C-C2CF64912E39}" dt="2026-07-14T16:08:20.658" v="1696" actId="6549"/>
          <ac:spMkLst>
            <pc:docMk/>
            <pc:sldMk cId="2700215762" sldId="300"/>
            <ac:spMk id="4" creationId="{6299CC43-622A-CDF5-2817-1918D78D4E4B}"/>
          </ac:spMkLst>
        </pc:spChg>
        <pc:spChg chg="mod">
          <ac:chgData name="Christopher Ojeda (Nokia)" userId="e11bd2ac-5f56-4ab0-9011-0b8c51ba3ded" providerId="ADAL" clId="{D8641BA3-117F-4133-919C-C2CF64912E39}" dt="2026-07-14T16:10:45.130" v="1728" actId="6549"/>
          <ac:spMkLst>
            <pc:docMk/>
            <pc:sldMk cId="2700215762" sldId="300"/>
            <ac:spMk id="5" creationId="{5727B3D6-3306-C93E-A7F1-FC8A207055C0}"/>
          </ac:spMkLst>
        </pc:spChg>
        <pc:spChg chg="mod">
          <ac:chgData name="Christopher Ojeda (Nokia)" userId="e11bd2ac-5f56-4ab0-9011-0b8c51ba3ded" providerId="ADAL" clId="{D8641BA3-117F-4133-919C-C2CF64912E39}" dt="2026-07-14T16:08:16.960" v="1695" actId="6549"/>
          <ac:spMkLst>
            <pc:docMk/>
            <pc:sldMk cId="2700215762" sldId="300"/>
            <ac:spMk id="8" creationId="{25BC6572-A90D-8300-837A-E953397640C0}"/>
          </ac:spMkLst>
        </pc:spChg>
        <pc:spChg chg="mod">
          <ac:chgData name="Christopher Ojeda (Nokia)" userId="e11bd2ac-5f56-4ab0-9011-0b8c51ba3ded" providerId="ADAL" clId="{D8641BA3-117F-4133-919C-C2CF64912E39}" dt="2026-07-14T16:08:09.302" v="1693" actId="6549"/>
          <ac:spMkLst>
            <pc:docMk/>
            <pc:sldMk cId="2700215762" sldId="300"/>
            <ac:spMk id="11" creationId="{B699564D-4166-D83E-201F-0FD4D89C9816}"/>
          </ac:spMkLst>
        </pc:spChg>
        <pc:graphicFrameChg chg="modGraphic">
          <ac:chgData name="Christopher Ojeda (Nokia)" userId="e11bd2ac-5f56-4ab0-9011-0b8c51ba3ded" providerId="ADAL" clId="{D8641BA3-117F-4133-919C-C2CF64912E39}" dt="2026-07-14T16:10:03.888" v="1723" actId="6549"/>
          <ac:graphicFrameMkLst>
            <pc:docMk/>
            <pc:sldMk cId="2700215762" sldId="300"/>
            <ac:graphicFrameMk id="22" creationId="{D7B3F2ED-8861-A727-9B91-A3A553B9B84A}"/>
          </ac:graphicFrameMkLst>
        </pc:graphicFrameChg>
        <pc:graphicFrameChg chg="modGraphic">
          <ac:chgData name="Christopher Ojeda (Nokia)" userId="e11bd2ac-5f56-4ab0-9011-0b8c51ba3ded" providerId="ADAL" clId="{D8641BA3-117F-4133-919C-C2CF64912E39}" dt="2026-07-14T16:10:06.147" v="1724" actId="6549"/>
          <ac:graphicFrameMkLst>
            <pc:docMk/>
            <pc:sldMk cId="2700215762" sldId="300"/>
            <ac:graphicFrameMk id="43" creationId="{54AD0C0F-E9CE-57ED-7E04-EA1A71024626}"/>
          </ac:graphicFrameMkLst>
        </pc:graphicFrameChg>
      </pc:sldChg>
      <pc:sldChg chg="modSp add mod">
        <pc:chgData name="Christopher Ojeda (Nokia)" userId="e11bd2ac-5f56-4ab0-9011-0b8c51ba3ded" providerId="ADAL" clId="{D8641BA3-117F-4133-919C-C2CF64912E39}" dt="2026-07-14T19:15:56.585" v="1874" actId="20577"/>
        <pc:sldMkLst>
          <pc:docMk/>
          <pc:sldMk cId="2826868560" sldId="301"/>
        </pc:sldMkLst>
        <pc:spChg chg="mod">
          <ac:chgData name="Christopher Ojeda (Nokia)" userId="e11bd2ac-5f56-4ab0-9011-0b8c51ba3ded" providerId="ADAL" clId="{D8641BA3-117F-4133-919C-C2CF64912E39}" dt="2026-07-14T19:15:56.585" v="1874" actId="20577"/>
          <ac:spMkLst>
            <pc:docMk/>
            <pc:sldMk cId="2826868560" sldId="301"/>
            <ac:spMk id="4" creationId="{4526053E-B5CE-6EB0-50FF-B73771489906}"/>
          </ac:spMkLst>
        </pc:spChg>
      </pc:sldChg>
      <pc:sldChg chg="modSp add mod">
        <pc:chgData name="Christopher Ojeda (Nokia)" userId="e11bd2ac-5f56-4ab0-9011-0b8c51ba3ded" providerId="ADAL" clId="{D8641BA3-117F-4133-919C-C2CF64912E39}" dt="2026-07-14T19:16:04.740" v="1889" actId="20577"/>
        <pc:sldMkLst>
          <pc:docMk/>
          <pc:sldMk cId="2618212393" sldId="302"/>
        </pc:sldMkLst>
        <pc:spChg chg="mod">
          <ac:chgData name="Christopher Ojeda (Nokia)" userId="e11bd2ac-5f56-4ab0-9011-0b8c51ba3ded" providerId="ADAL" clId="{D8641BA3-117F-4133-919C-C2CF64912E39}" dt="2026-07-14T19:16:04.740" v="1889" actId="20577"/>
          <ac:spMkLst>
            <pc:docMk/>
            <pc:sldMk cId="2618212393" sldId="302"/>
            <ac:spMk id="4" creationId="{974A6021-309D-95FC-2B3A-56CAA4043B19}"/>
          </ac:spMkLst>
        </pc:spChg>
      </pc:sldChg>
      <pc:sldChg chg="modSp add mod">
        <pc:chgData name="Christopher Ojeda (Nokia)" userId="e11bd2ac-5f56-4ab0-9011-0b8c51ba3ded" providerId="ADAL" clId="{D8641BA3-117F-4133-919C-C2CF64912E39}" dt="2026-07-14T19:16:48.095" v="1961" actId="20577"/>
        <pc:sldMkLst>
          <pc:docMk/>
          <pc:sldMk cId="1955402671" sldId="303"/>
        </pc:sldMkLst>
        <pc:spChg chg="mod">
          <ac:chgData name="Christopher Ojeda (Nokia)" userId="e11bd2ac-5f56-4ab0-9011-0b8c51ba3ded" providerId="ADAL" clId="{D8641BA3-117F-4133-919C-C2CF64912E39}" dt="2026-07-14T19:16:32.773" v="1927" actId="20577"/>
          <ac:spMkLst>
            <pc:docMk/>
            <pc:sldMk cId="1955402671" sldId="303"/>
            <ac:spMk id="3" creationId="{E4C78BE0-9347-D4A1-51A8-37CEA1B15226}"/>
          </ac:spMkLst>
        </pc:spChg>
        <pc:spChg chg="mod">
          <ac:chgData name="Christopher Ojeda (Nokia)" userId="e11bd2ac-5f56-4ab0-9011-0b8c51ba3ded" providerId="ADAL" clId="{D8641BA3-117F-4133-919C-C2CF64912E39}" dt="2026-07-14T19:16:48.095" v="1961" actId="20577"/>
          <ac:spMkLst>
            <pc:docMk/>
            <pc:sldMk cId="1955402671" sldId="303"/>
            <ac:spMk id="9" creationId="{E51EAD70-4897-9F69-6FDF-43C7AC2E869E}"/>
          </ac:spMkLst>
        </pc:spChg>
      </pc:sldChg>
      <pc:sldChg chg="modSp add mod">
        <pc:chgData name="Christopher Ojeda (Nokia)" userId="e11bd2ac-5f56-4ab0-9011-0b8c51ba3ded" providerId="ADAL" clId="{D8641BA3-117F-4133-919C-C2CF64912E39}" dt="2026-07-14T19:16:40.083" v="1942" actId="20577"/>
        <pc:sldMkLst>
          <pc:docMk/>
          <pc:sldMk cId="498402957" sldId="304"/>
        </pc:sldMkLst>
        <pc:spChg chg="mod">
          <ac:chgData name="Christopher Ojeda (Nokia)" userId="e11bd2ac-5f56-4ab0-9011-0b8c51ba3ded" providerId="ADAL" clId="{D8641BA3-117F-4133-919C-C2CF64912E39}" dt="2026-07-14T19:16:40.083" v="1942" actId="20577"/>
          <ac:spMkLst>
            <pc:docMk/>
            <pc:sldMk cId="498402957" sldId="304"/>
            <ac:spMk id="4" creationId="{9ABA4BC6-8F07-CCA9-81EB-B01BBFC746FE}"/>
          </ac:spMkLst>
        </pc:spChg>
      </pc:sldChg>
      <pc:sldChg chg="modSp add mod">
        <pc:chgData name="Christopher Ojeda (Nokia)" userId="e11bd2ac-5f56-4ab0-9011-0b8c51ba3ded" providerId="ADAL" clId="{D8641BA3-117F-4133-919C-C2CF64912E39}" dt="2026-07-14T19:16:55.438" v="1976" actId="20577"/>
        <pc:sldMkLst>
          <pc:docMk/>
          <pc:sldMk cId="2577534199" sldId="305"/>
        </pc:sldMkLst>
        <pc:spChg chg="mod">
          <ac:chgData name="Christopher Ojeda (Nokia)" userId="e11bd2ac-5f56-4ab0-9011-0b8c51ba3ded" providerId="ADAL" clId="{D8641BA3-117F-4133-919C-C2CF64912E39}" dt="2026-07-14T19:16:55.438" v="1976" actId="20577"/>
          <ac:spMkLst>
            <pc:docMk/>
            <pc:sldMk cId="2577534199" sldId="305"/>
            <ac:spMk id="4" creationId="{FC62C4E4-9F77-7386-3844-94BB5AA72CFA}"/>
          </ac:spMkLst>
        </pc:sp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Jan/26+</c:v>
                </c:pt>
                <c:pt idx="1">
                  <c:v>Feb/26</c:v>
                </c:pt>
                <c:pt idx="2">
                  <c:v>Mar/26</c:v>
                </c:pt>
                <c:pt idx="3">
                  <c:v>Apr/26</c:v>
                </c:pt>
                <c:pt idx="4">
                  <c:v>May/26</c:v>
                </c:pt>
                <c:pt idx="5">
                  <c:v>Jun/26</c:v>
                </c:pt>
                <c:pt idx="6">
                  <c:v>Jul/26</c:v>
                </c:pt>
                <c:pt idx="7">
                  <c:v>Aug/26</c:v>
                </c:pt>
                <c:pt idx="8">
                  <c:v>Sep/26</c:v>
                </c:pt>
                <c:pt idx="9">
                  <c:v>Oct/26</c:v>
                </c:pt>
                <c:pt idx="10">
                  <c:v>Nov/26</c:v>
                </c:pt>
                <c:pt idx="11">
                  <c:v>Dec/26</c:v>
                </c:pt>
                <c:pt idx="12">
                  <c:v>Jan/27</c:v>
                </c:pt>
                <c:pt idx="13">
                  <c:v>Feb/27</c:v>
                </c:pt>
                <c:pt idx="14">
                  <c:v>Mar/27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30</c:v>
                </c:pt>
                <c:pt idx="1">
                  <c:v>15</c:v>
                </c:pt>
                <c:pt idx="2">
                  <c:v>21</c:v>
                </c:pt>
                <c:pt idx="3">
                  <c:v>50</c:v>
                </c:pt>
                <c:pt idx="4">
                  <c:v>48</c:v>
                </c:pt>
                <c:pt idx="5">
                  <c:v>42</c:v>
                </c:pt>
                <c:pt idx="6">
                  <c:v>30</c:v>
                </c:pt>
                <c:pt idx="7">
                  <c:v>30</c:v>
                </c:pt>
                <c:pt idx="8">
                  <c:v>30</c:v>
                </c:pt>
                <c:pt idx="9">
                  <c:v>31</c:v>
                </c:pt>
                <c:pt idx="10">
                  <c:v>30</c:v>
                </c:pt>
                <c:pt idx="11">
                  <c:v>30</c:v>
                </c:pt>
                <c:pt idx="12">
                  <c:v>28</c:v>
                </c:pt>
                <c:pt idx="13">
                  <c:v>28</c:v>
                </c:pt>
                <c:pt idx="1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D8-4A95-8ACF-CD0CD875228E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12419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Jan/26+</c:v>
                </c:pt>
                <c:pt idx="1">
                  <c:v>Feb/26</c:v>
                </c:pt>
                <c:pt idx="2">
                  <c:v>Mar/26</c:v>
                </c:pt>
                <c:pt idx="3">
                  <c:v>Apr/26</c:v>
                </c:pt>
                <c:pt idx="4">
                  <c:v>May/26</c:v>
                </c:pt>
                <c:pt idx="5">
                  <c:v>Jun/26</c:v>
                </c:pt>
                <c:pt idx="6">
                  <c:v>Jul/26</c:v>
                </c:pt>
                <c:pt idx="7">
                  <c:v>Aug/26</c:v>
                </c:pt>
                <c:pt idx="8">
                  <c:v>Sep/26</c:v>
                </c:pt>
                <c:pt idx="9">
                  <c:v>Oct/26</c:v>
                </c:pt>
                <c:pt idx="10">
                  <c:v>Nov/26</c:v>
                </c:pt>
                <c:pt idx="11">
                  <c:v>Dec/26</c:v>
                </c:pt>
                <c:pt idx="12">
                  <c:v>Jan/27</c:v>
                </c:pt>
                <c:pt idx="13">
                  <c:v>Feb/27</c:v>
                </c:pt>
                <c:pt idx="14">
                  <c:v>Mar/27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24</c:v>
                </c:pt>
                <c:pt idx="1">
                  <c:v>7</c:v>
                </c:pt>
                <c:pt idx="2">
                  <c:v>18</c:v>
                </c:pt>
                <c:pt idx="3">
                  <c:v>23</c:v>
                </c:pt>
                <c:pt idx="4">
                  <c:v>22</c:v>
                </c:pt>
                <c:pt idx="5">
                  <c:v>26</c:v>
                </c:pt>
                <c:pt idx="6">
                  <c:v>28</c:v>
                </c:pt>
                <c:pt idx="7">
                  <c:v>13</c:v>
                </c:pt>
                <c:pt idx="8">
                  <c:v>22</c:v>
                </c:pt>
                <c:pt idx="9">
                  <c:v>5</c:v>
                </c:pt>
                <c:pt idx="1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AE-4256-A227-A5CED77AA10E}"/>
            </c:ext>
          </c:extLst>
        </c:ser>
        <c:ser>
          <c:idx val="1"/>
          <c:order val="2"/>
          <c:tx>
            <c:strRef>
              <c:f>Sheet1!$D$1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Jan/26+</c:v>
                </c:pt>
                <c:pt idx="1">
                  <c:v>Feb/26</c:v>
                </c:pt>
                <c:pt idx="2">
                  <c:v>Mar/26</c:v>
                </c:pt>
                <c:pt idx="3">
                  <c:v>Apr/26</c:v>
                </c:pt>
                <c:pt idx="4">
                  <c:v>May/26</c:v>
                </c:pt>
                <c:pt idx="5">
                  <c:v>Jun/26</c:v>
                </c:pt>
                <c:pt idx="6">
                  <c:v>Jul/26</c:v>
                </c:pt>
                <c:pt idx="7">
                  <c:v>Aug/26</c:v>
                </c:pt>
                <c:pt idx="8">
                  <c:v>Sep/26</c:v>
                </c:pt>
                <c:pt idx="9">
                  <c:v>Oct/26</c:v>
                </c:pt>
                <c:pt idx="10">
                  <c:v>Nov/26</c:v>
                </c:pt>
                <c:pt idx="11">
                  <c:v>Dec/26</c:v>
                </c:pt>
                <c:pt idx="12">
                  <c:v>Jan/27</c:v>
                </c:pt>
                <c:pt idx="13">
                  <c:v>Feb/27</c:v>
                </c:pt>
                <c:pt idx="14">
                  <c:v>Mar/27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24</c:v>
                </c:pt>
                <c:pt idx="1">
                  <c:v>7</c:v>
                </c:pt>
                <c:pt idx="2">
                  <c:v>18</c:v>
                </c:pt>
                <c:pt idx="3">
                  <c:v>23</c:v>
                </c:pt>
                <c:pt idx="4">
                  <c:v>22</c:v>
                </c:pt>
                <c:pt idx="5">
                  <c:v>26</c:v>
                </c:pt>
                <c:pt idx="6">
                  <c:v>28</c:v>
                </c:pt>
                <c:pt idx="7">
                  <c:v>13</c:v>
                </c:pt>
                <c:pt idx="8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AE-4256-A227-A5CED77AA1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255991167566763E-2"/>
          <c:y val="3.3096162486194874E-2"/>
          <c:w val="0.93795747280625197"/>
          <c:h val="0.83510701327619741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Jan/26+</c:v>
                </c:pt>
                <c:pt idx="1">
                  <c:v>Feb/26</c:v>
                </c:pt>
                <c:pt idx="2">
                  <c:v>Mar/26</c:v>
                </c:pt>
                <c:pt idx="3">
                  <c:v>Apr/26</c:v>
                </c:pt>
                <c:pt idx="4">
                  <c:v>May/26</c:v>
                </c:pt>
                <c:pt idx="5">
                  <c:v>Jun/26</c:v>
                </c:pt>
                <c:pt idx="6">
                  <c:v>Jul/26</c:v>
                </c:pt>
                <c:pt idx="7">
                  <c:v>Aug/26</c:v>
                </c:pt>
                <c:pt idx="8">
                  <c:v>Sep/26</c:v>
                </c:pt>
                <c:pt idx="9">
                  <c:v>Oct/26</c:v>
                </c:pt>
                <c:pt idx="10">
                  <c:v>Nov/26</c:v>
                </c:pt>
                <c:pt idx="11">
                  <c:v>Dec/26</c:v>
                </c:pt>
                <c:pt idx="12">
                  <c:v>Jan/27</c:v>
                </c:pt>
                <c:pt idx="13">
                  <c:v>Feb/27</c:v>
                </c:pt>
                <c:pt idx="14">
                  <c:v>Mar/27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30</c:v>
                </c:pt>
                <c:pt idx="1">
                  <c:v>10</c:v>
                </c:pt>
                <c:pt idx="2">
                  <c:v>18</c:v>
                </c:pt>
                <c:pt idx="3">
                  <c:v>28</c:v>
                </c:pt>
                <c:pt idx="4">
                  <c:v>40</c:v>
                </c:pt>
                <c:pt idx="5">
                  <c:v>30</c:v>
                </c:pt>
                <c:pt idx="6">
                  <c:v>30</c:v>
                </c:pt>
                <c:pt idx="7">
                  <c:v>30</c:v>
                </c:pt>
                <c:pt idx="8">
                  <c:v>31</c:v>
                </c:pt>
                <c:pt idx="9">
                  <c:v>31</c:v>
                </c:pt>
                <c:pt idx="10">
                  <c:v>32</c:v>
                </c:pt>
                <c:pt idx="11">
                  <c:v>30</c:v>
                </c:pt>
                <c:pt idx="12">
                  <c:v>30</c:v>
                </c:pt>
                <c:pt idx="13">
                  <c:v>30</c:v>
                </c:pt>
                <c:pt idx="1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70-474E-9DCB-F4E4CD0FAC7A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12419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Jan/26+</c:v>
                </c:pt>
                <c:pt idx="1">
                  <c:v>Feb/26</c:v>
                </c:pt>
                <c:pt idx="2">
                  <c:v>Mar/26</c:v>
                </c:pt>
                <c:pt idx="3">
                  <c:v>Apr/26</c:v>
                </c:pt>
                <c:pt idx="4">
                  <c:v>May/26</c:v>
                </c:pt>
                <c:pt idx="5">
                  <c:v>Jun/26</c:v>
                </c:pt>
                <c:pt idx="6">
                  <c:v>Jul/26</c:v>
                </c:pt>
                <c:pt idx="7">
                  <c:v>Aug/26</c:v>
                </c:pt>
                <c:pt idx="8">
                  <c:v>Sep/26</c:v>
                </c:pt>
                <c:pt idx="9">
                  <c:v>Oct/26</c:v>
                </c:pt>
                <c:pt idx="10">
                  <c:v>Nov/26</c:v>
                </c:pt>
                <c:pt idx="11">
                  <c:v>Dec/26</c:v>
                </c:pt>
                <c:pt idx="12">
                  <c:v>Jan/27</c:v>
                </c:pt>
                <c:pt idx="13">
                  <c:v>Feb/27</c:v>
                </c:pt>
                <c:pt idx="14">
                  <c:v>Mar/27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14</c:v>
                </c:pt>
                <c:pt idx="1">
                  <c:v>7</c:v>
                </c:pt>
                <c:pt idx="2">
                  <c:v>8</c:v>
                </c:pt>
                <c:pt idx="3">
                  <c:v>14</c:v>
                </c:pt>
                <c:pt idx="4">
                  <c:v>29</c:v>
                </c:pt>
                <c:pt idx="5">
                  <c:v>31</c:v>
                </c:pt>
                <c:pt idx="6">
                  <c:v>30</c:v>
                </c:pt>
                <c:pt idx="7">
                  <c:v>19</c:v>
                </c:pt>
                <c:pt idx="8">
                  <c:v>24</c:v>
                </c:pt>
                <c:pt idx="9">
                  <c:v>12</c:v>
                </c:pt>
                <c:pt idx="1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EF-46DC-BB5D-A7162BB3B72B}"/>
            </c:ext>
          </c:extLst>
        </c:ser>
        <c:ser>
          <c:idx val="1"/>
          <c:order val="2"/>
          <c:tx>
            <c:strRef>
              <c:f>Sheet1!$D$1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Jan/26+</c:v>
                </c:pt>
                <c:pt idx="1">
                  <c:v>Feb/26</c:v>
                </c:pt>
                <c:pt idx="2">
                  <c:v>Mar/26</c:v>
                </c:pt>
                <c:pt idx="3">
                  <c:v>Apr/26</c:v>
                </c:pt>
                <c:pt idx="4">
                  <c:v>May/26</c:v>
                </c:pt>
                <c:pt idx="5">
                  <c:v>Jun/26</c:v>
                </c:pt>
                <c:pt idx="6">
                  <c:v>Jul/26</c:v>
                </c:pt>
                <c:pt idx="7">
                  <c:v>Aug/26</c:v>
                </c:pt>
                <c:pt idx="8">
                  <c:v>Sep/26</c:v>
                </c:pt>
                <c:pt idx="9">
                  <c:v>Oct/26</c:v>
                </c:pt>
                <c:pt idx="10">
                  <c:v>Nov/26</c:v>
                </c:pt>
                <c:pt idx="11">
                  <c:v>Dec/26</c:v>
                </c:pt>
                <c:pt idx="12">
                  <c:v>Jan/27</c:v>
                </c:pt>
                <c:pt idx="13">
                  <c:v>Feb/27</c:v>
                </c:pt>
                <c:pt idx="14">
                  <c:v>Mar/27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14</c:v>
                </c:pt>
                <c:pt idx="1">
                  <c:v>7</c:v>
                </c:pt>
                <c:pt idx="2">
                  <c:v>8</c:v>
                </c:pt>
                <c:pt idx="3">
                  <c:v>14</c:v>
                </c:pt>
                <c:pt idx="4">
                  <c:v>29</c:v>
                </c:pt>
                <c:pt idx="5">
                  <c:v>31</c:v>
                </c:pt>
                <c:pt idx="6">
                  <c:v>30</c:v>
                </c:pt>
                <c:pt idx="7">
                  <c:v>19</c:v>
                </c:pt>
                <c:pt idx="8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EF-46DC-BB5D-A7162BB3B7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9202607654519606"/>
          <c:y val="0.9259858699874165"/>
          <c:w val="0.23038981910541051"/>
          <c:h val="7.4014185726784157E-2"/>
        </c:manualLayout>
      </c:layout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0777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52B9D-7411-90E2-5390-10AD5E252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269C7-0F39-6EF7-03A9-0A7ABFD7E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0DBCB-76C5-CAB1-161A-4A30835A0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81D4D-041A-24AA-AC51-DB27DFBBB0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97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18321-9769-2237-6153-F488D5831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566124-9808-EE0C-9AE4-2A3F43DE8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DF542-6ABD-A8B9-9007-93FE08207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2EE5C-AE86-9B82-47FF-B750C07C87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379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40068-419B-84F3-4565-01536DE1C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51B39-F1F8-0CC8-FC17-1DE82F004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08A564-A341-D7FE-EBBF-32C4F52D6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75BD4-8668-00F6-9E0A-CCD56BD539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199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CC2DF-26C4-0DE3-1080-6F8A8AAC9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1B3C3C-6A67-2A6B-6735-EEF0B78C9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7CED5-07A7-BCBA-7D76-0D061D68E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65C42-D6A4-C406-0673-C5E98CF958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136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0E1D9-4C8D-1800-18B4-BDB721F86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D65C6-7364-5CC5-2BE0-DC023EC3D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476350-2C70-F84D-D177-00750DFB4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25578-D015-CAA3-F726-B432D25110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566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7C512-7E74-DDB0-A818-957C0623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03259-C3E6-66B4-1FB3-6FF8395E7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6CBE8-0F6E-5AAD-177D-F0A95C58A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B533C-6725-10F4-DF8A-DAAAC424A5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328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A68F1-0A7B-1720-3C2B-28C7B5E3B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84F41-C9B7-6AF3-98EE-F63089A0C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88DAB-3F97-1A5E-4113-E09E2C160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A7948-DB30-1632-E533-1203153C27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91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FA50F-14EF-C474-A9D2-8B1033BB5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08723-1C04-0443-308E-8284551F0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578F6-3DEC-AEB6-FACD-88F7494A9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78F59-F6B8-50EE-7982-7ACB687312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532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4909F-791C-D0AC-53EA-7E3172268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5E96B-1AE1-4EC4-1D16-FC79B2175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5EA95-6639-3294-8FC8-D3EF66DF3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C7AC1-1524-5973-DFF2-325EDB6768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840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59B82-6251-DE4D-3C2C-182F45211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DF1BF-D0A1-EA2A-7D2D-0A1B1E5AD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4DAAB-EE4E-5762-9731-702E69E88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417D6-A41D-E17E-A2E4-A351C5001C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187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ACFCA-D1A1-E12C-5155-5AE0D0C7A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988BE-112A-EAE3-1FE1-714523F27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B4AE4-C0A7-30FF-E340-25395A57E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D82EF-EC2A-EF54-9B71-1B66CAD7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9630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1E8BA-982C-16C6-4F74-3659C377B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B42DB2-F15C-A7FD-97AF-FCB1E5E6E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22124B-D684-3E8F-A7A1-689DF013A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B2ED0-17C6-42C8-DD5F-CC223513A3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830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9DD43-12C2-1C09-9638-AA1618847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F99A64-A4A5-9960-2D88-0BC554049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A70D7-20C6-1A53-969B-573D4F575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6152F-DC65-0F0C-689F-D452BB3A73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495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017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108960"/>
            <a:ext cx="9144000" cy="203454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063240"/>
            <a:ext cx="9144000" cy="73152"/>
          </a:xfrm>
          <a:prstGeom prst="rect">
            <a:avLst/>
          </a:prstGeom>
          <a:solidFill>
            <a:srgbClr val="00A0B0"/>
          </a:solidFill>
          <a:ln w="12700">
            <a:solidFill>
              <a:srgbClr val="00A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Program</a:t>
            </a:r>
            <a:endParaRPr lang="en-US" sz="400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update</a:t>
            </a:r>
            <a:endParaRPr lang="en-US" sz="300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548640" y="349300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Viaero Wireless  ·  Nokia Program Team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for 09/29/2026 meeting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914400" y="1097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and NTP Status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457200" y="163677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36776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77393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914400" y="17739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Start and Cx Complete Status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457200" y="231343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313432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4505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914400" y="24505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 Readiness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457200" y="299008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990088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12724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914400" y="31272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 in Progress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457200" y="366674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666744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80390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914400" y="38039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Start look ahead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457200" y="448056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/>
              <a:t/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914400" y="44805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/>
              <a:t/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4800600" y="9601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00600" y="960120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109728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5257800" y="1097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POR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163677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00600" y="1636776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0600" y="177393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5257800" y="17739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POR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231343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00600" y="2313432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00600" y="24505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5257800" y="24505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POR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00600" y="300970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03550" y="3005132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00600" y="312724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/>
              <a:t/>
            </a: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5257800" y="31272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/>
              <a:t/>
            </a:r>
            <a:endParaRPr lang="en-US" sz="1100"/>
          </a:p>
        </p:txBody>
      </p:sp>
      <p:sp>
        <p:nvSpPr>
          <p:cNvPr id="48" name="Text 46"/>
          <p:cNvSpPr/>
          <p:nvPr/>
        </p:nvSpPr>
        <p:spPr>
          <a:xfrm>
            <a:off x="4807974" y="312724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/>
          </a:p>
        </p:txBody>
      </p:sp>
      <p:sp>
        <p:nvSpPr>
          <p:cNvPr id="49" name="Text 47"/>
          <p:cNvSpPr/>
          <p:nvPr/>
        </p:nvSpPr>
        <p:spPr>
          <a:xfrm>
            <a:off x="5257800" y="2880360"/>
            <a:ext cx="3474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POR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00600" y="448056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/>
              <a:t/>
            </a:r>
            <a:endParaRPr lang="en-US" sz="1100"/>
          </a:p>
        </p:txBody>
      </p:sp>
      <p:sp>
        <p:nvSpPr>
          <p:cNvPr id="53" name="Text 51"/>
          <p:cNvSpPr/>
          <p:nvPr/>
        </p:nvSpPr>
        <p:spPr>
          <a:xfrm>
            <a:off x="4685563" y="447569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/>
              <a:t/>
            </a:r>
            <a:endParaRPr lang="en-US" sz="1100"/>
          </a:p>
        </p:txBody>
      </p:sp>
      <p:sp>
        <p:nvSpPr>
          <p:cNvPr id="26" name="Shape 40">
            <a:extLst>
              <a:ext uri="{FF2B5EF4-FFF2-40B4-BE49-F238E27FC236}">
                <a16:creationId xmlns:a16="http://schemas.microsoft.com/office/drawing/2014/main" id="{5B33DC7D-2B96-C27A-CAEC-44038A6FE578}"/>
              </a:ext>
            </a:extLst>
          </p:cNvPr>
          <p:cNvSpPr/>
          <p:nvPr/>
        </p:nvSpPr>
        <p:spPr>
          <a:xfrm>
            <a:off x="4800600" y="366674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/>
          </a:p>
        </p:txBody>
      </p:sp>
      <p:sp>
        <p:nvSpPr>
          <p:cNvPr id="27" name="Shape 41">
            <a:extLst>
              <a:ext uri="{FF2B5EF4-FFF2-40B4-BE49-F238E27FC236}">
                <a16:creationId xmlns:a16="http://schemas.microsoft.com/office/drawing/2014/main" id="{784C4185-1D1F-7F74-86DD-0406C8FA6600}"/>
              </a:ext>
            </a:extLst>
          </p:cNvPr>
          <p:cNvSpPr/>
          <p:nvPr/>
        </p:nvSpPr>
        <p:spPr>
          <a:xfrm>
            <a:off x="4815840" y="3675888"/>
            <a:ext cx="365760" cy="573122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/>
          </a:p>
        </p:txBody>
      </p:sp>
      <p:sp>
        <p:nvSpPr>
          <p:cNvPr id="46" name="Text 47">
            <a:extLst>
              <a:ext uri="{FF2B5EF4-FFF2-40B4-BE49-F238E27FC236}">
                <a16:creationId xmlns:a16="http://schemas.microsoft.com/office/drawing/2014/main" id="{41B328FF-40C7-2F47-30DD-44A23A4B9AE8}"/>
              </a:ext>
            </a:extLst>
          </p:cNvPr>
          <p:cNvSpPr/>
          <p:nvPr/>
        </p:nvSpPr>
        <p:spPr>
          <a:xfrm>
            <a:off x="5257800" y="3117218"/>
            <a:ext cx="3474720" cy="1708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Log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Since Last Session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7/7/2026  ·  09/29/2026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2011680" cy="14630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50976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</a:t>
            </a:r>
            <a:endParaRPr lang="en-US" sz="3600"/>
          </a:p>
        </p:txBody>
      </p:sp>
      <p:sp>
        <p:nvSpPr>
          <p:cNvPr id="9" name="Text 7"/>
          <p:cNvSpPr/>
          <p:nvPr/>
        </p:nvSpPr>
        <p:spPr>
          <a:xfrm>
            <a:off x="274320" y="17922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Starts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548640" y="2121408"/>
            <a:ext cx="1463040" cy="201168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13969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vs 09/22/2026</a:t>
            </a:r>
            <a:endParaRPr lang="en-US" sz="800"/>
          </a:p>
        </p:txBody>
      </p:sp>
      <p:sp>
        <p:nvSpPr>
          <p:cNvPr id="12" name="Shape 10"/>
          <p:cNvSpPr/>
          <p:nvPr/>
        </p:nvSpPr>
        <p:spPr>
          <a:xfrm>
            <a:off x="2450592" y="914400"/>
            <a:ext cx="2011680" cy="1463040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50592" y="950976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3600"/>
          </a:p>
        </p:txBody>
      </p:sp>
      <p:sp>
        <p:nvSpPr>
          <p:cNvPr id="14" name="Text 12"/>
          <p:cNvSpPr/>
          <p:nvPr/>
        </p:nvSpPr>
        <p:spPr>
          <a:xfrm>
            <a:off x="2450592" y="17922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Completions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2724912" y="2121408"/>
            <a:ext cx="1463040" cy="201168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24912" y="213969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vs 09/22/2026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4626864" y="914400"/>
            <a:ext cx="2011680" cy="1463040"/>
          </a:xfrm>
          <a:prstGeom prst="rect">
            <a:avLst/>
          </a:prstGeom>
          <a:solidFill>
            <a:srgbClr val="FFF2CC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26864" y="950976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/>
          </a:p>
        </p:txBody>
      </p:sp>
      <p:sp>
        <p:nvSpPr>
          <p:cNvPr id="19" name="Text 17"/>
          <p:cNvSpPr/>
          <p:nvPr/>
        </p:nvSpPr>
        <p:spPr>
          <a:xfrm>
            <a:off x="4626864" y="17922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 in Progress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4901184" y="2121408"/>
            <a:ext cx="1463040" cy="201168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01184" y="213969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vs 09/22/2026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6803136" y="914400"/>
            <a:ext cx="2011680" cy="14630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03136" y="950976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600"/>
          </a:p>
        </p:txBody>
      </p:sp>
      <p:sp>
        <p:nvSpPr>
          <p:cNvPr id="24" name="Text 22"/>
          <p:cNvSpPr/>
          <p:nvPr/>
        </p:nvSpPr>
        <p:spPr>
          <a:xfrm>
            <a:off x="6803136" y="17922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NTPs Issued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7077456" y="2121408"/>
            <a:ext cx="1463040" cy="201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77456" y="213969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vs 09/22/2026</a:t>
            </a:r>
            <a:endParaRPr lang="en-US" sz="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2487168"/>
            <a:ext cx="8565273" cy="27432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4048" y="251460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New Starts Since 09/22/2026 (4)</a:t>
            </a:r>
            <a:endParaRPr lang="en-US" sz="950"/>
          </a:p>
        </p:txBody>
      </p:sp>
      <p:sp>
        <p:nvSpPr>
          <p:cNvPr id="31" name="Text 29"/>
          <p:cNvSpPr/>
          <p:nvPr/>
        </p:nvSpPr>
        <p:spPr>
          <a:xfrm>
            <a:off x="384048" y="282549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32" name="Text 30"/>
          <p:cNvSpPr/>
          <p:nvPr/>
        </p:nvSpPr>
        <p:spPr>
          <a:xfrm>
            <a:off x="6858000" y="28254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8321040" y="282549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/>
              <a:t/>
            </a:r>
            <a:endParaRPr lang="en-US" sz="1400"/>
          </a:p>
        </p:txBody>
      </p:sp>
      <p:sp>
        <p:nvSpPr>
          <p:cNvPr id="36" name="Text 34"/>
          <p:cNvSpPr/>
          <p:nvPr/>
        </p:nvSpPr>
        <p:spPr>
          <a:xfrm>
            <a:off x="384048" y="301752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37" name="Text 35"/>
          <p:cNvSpPr/>
          <p:nvPr/>
        </p:nvSpPr>
        <p:spPr>
          <a:xfrm>
            <a:off x="6858000" y="3017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8321040" y="301752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/>
              <a:t/>
            </a:r>
            <a:endParaRPr lang="en-US" sz="1400"/>
          </a:p>
        </p:txBody>
      </p:sp>
      <p:sp>
        <p:nvSpPr>
          <p:cNvPr id="41" name="Text 39"/>
          <p:cNvSpPr/>
          <p:nvPr/>
        </p:nvSpPr>
        <p:spPr>
          <a:xfrm>
            <a:off x="384048" y="320954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42" name="Text 40"/>
          <p:cNvSpPr/>
          <p:nvPr/>
        </p:nvSpPr>
        <p:spPr>
          <a:xfrm>
            <a:off x="6858000" y="32095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/>
          </a:p>
        </p:txBody>
      </p:sp>
      <p:sp>
        <p:nvSpPr>
          <p:cNvPr id="43" name="Text 41"/>
          <p:cNvSpPr/>
          <p:nvPr/>
        </p:nvSpPr>
        <p:spPr>
          <a:xfrm>
            <a:off x="8321040" y="320954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/>
              <a:t/>
            </a:r>
            <a:endParaRPr lang="en-US" sz="1400"/>
          </a:p>
        </p:txBody>
      </p:sp>
      <p:sp>
        <p:nvSpPr>
          <p:cNvPr id="44" name="Shape 42"/>
          <p:cNvSpPr/>
          <p:nvPr/>
        </p:nvSpPr>
        <p:spPr>
          <a:xfrm>
            <a:off x="274320" y="2996724"/>
            <a:ext cx="8595360" cy="256032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2852928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Changes by Month</a:t>
            </a:r>
            <a:endParaRPr lang="en-US" sz="950"/>
          </a:p>
        </p:txBody>
      </p:sp>
      <p:sp>
        <p:nvSpPr>
          <p:cNvPr id="46" name="Shape 44"/>
          <p:cNvSpPr/>
          <p:nvPr/>
        </p:nvSpPr>
        <p:spPr>
          <a:xfrm>
            <a:off x="248402" y="3286113"/>
            <a:ext cx="8595360" cy="25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44233" y="3576411"/>
            <a:ext cx="8595360" cy="25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55042" y="33009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POR:  27 of 31 HOPs with NTP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" name="Text 40"/>
          <p:cNvSpPr/>
          <p:nvPr/>
        </p:nvSpPr>
        <p:spPr>
          <a:xfrm>
            <a:off x="6858000" y="34015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/>
              <a:t>Jun POR:  26 of 26 HOPs with NTP  (0 since 09/22/2026)</a:t>
            </a:r>
            <a:endParaRPr lang="en-US" sz="900"/>
          </a:p>
        </p:txBody>
      </p:sp>
      <p:sp>
        <p:nvSpPr>
          <p:cNvPr id="54" name="Text 41"/>
          <p:cNvSpPr/>
          <p:nvPr/>
        </p:nvSpPr>
        <p:spPr>
          <a:xfrm>
            <a:off x="8321040" y="340156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58" name="Text 40"/>
          <p:cNvSpPr/>
          <p:nvPr/>
        </p:nvSpPr>
        <p:spPr>
          <a:xfrm>
            <a:off x="6858000" y="35935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/>
              <a:t>Jul POR:  28 of 28 HOPs with NTP  (0 since 09/22/2026)</a:t>
            </a:r>
            <a:endParaRPr lang="en-US" sz="900"/>
          </a:p>
        </p:txBody>
      </p:sp>
      <p:sp>
        <p:nvSpPr>
          <p:cNvPr id="59" name="Text 41"/>
          <p:cNvSpPr/>
          <p:nvPr/>
        </p:nvSpPr>
        <p:spPr>
          <a:xfrm>
            <a:off x="8321040" y="359359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/>
              <a:t/>
            </a:r>
            <a:endParaRPr lang="en-US" sz="1400"/>
          </a:p>
        </p:txBody>
      </p:sp>
      <p:sp>
        <p:nvSpPr>
          <p:cNvPr id="34" name="Text 47">
            <a:extLst>
              <a:ext uri="{FF2B5EF4-FFF2-40B4-BE49-F238E27FC236}">
                <a16:creationId xmlns:a16="http://schemas.microsoft.com/office/drawing/2014/main" id="{48591BE4-A552-805B-E7E5-B5A99AE8BA47}"/>
              </a:ext>
            </a:extLst>
          </p:cNvPr>
          <p:cNvSpPr/>
          <p:nvPr/>
        </p:nvSpPr>
        <p:spPr>
          <a:xfrm>
            <a:off x="355042" y="3587865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POR:  4 of 31 HOPs with NTP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NTP Status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pulled from HOPs tab · Material Received A · NTP A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840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3840480" cy="329184"/>
          </a:xfrm>
          <a:prstGeom prst="rect">
            <a:avLst/>
          </a:prstGeom>
          <a:solidFill>
            <a:srgbClr val="00A0B0"/>
          </a:solidFill>
          <a:ln w="12700">
            <a:solidFill>
              <a:srgbClr val="00A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033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Received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>
                <a:solidFill>
                  <a:srgbClr val="0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</a:t>
            </a:r>
            <a:endParaRPr lang="en-US" sz="720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with material confirmed received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3840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1005840"/>
            <a:ext cx="3840480" cy="329184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033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Complete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4846320" y="1389888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200"/>
          </a:p>
        </p:txBody>
      </p:sp>
      <p:sp>
        <p:nvSpPr>
          <p:cNvPr id="16" name="Text 14"/>
          <p:cNvSpPr/>
          <p:nvPr/>
        </p:nvSpPr>
        <p:spPr>
          <a:xfrm>
            <a:off x="4846320" y="2743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 with NTP issued (NTP A · dates only)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457200" y="3730752"/>
            <a:ext cx="8229600" cy="621792"/>
          </a:xfrm>
          <a:prstGeom prst="rect">
            <a:avLst/>
          </a:prstGeom>
          <a:solidFill>
            <a:srgbClr val="D6E4F5"/>
          </a:solidFill>
          <a:ln w="12700">
            <a:solidFill>
              <a:srgbClr val="CC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822192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 HOPs have material in warehouse  ·  200 HOPs with NTP issued  ·  NTP Forecast based on Cage Match</a:t>
            </a:r>
            <a:endParaRPr lang="en-US"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1E0F4-3E5A-DFD6-F979-B1C90A0F5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F5BC45-E403-30E5-6163-362CB398004D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0D2D22-DFFB-42E5-B0E0-FF440CA90CF9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Start Status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4DAAE4-D8F2-CA70-E8F2-6EDE49B9CB43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· Forecast = MS15 Implementation Start F </a:t>
            </a:r>
            <a:endParaRPr lang="en-US"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7DA61F0-8726-FFBA-8905-3EFBE3889EE2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ED79B1D-1DAE-64DD-5822-3586CA7258AB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69EF19C-1797-D990-4C76-2A713B5AC962}"/>
              </a:ext>
            </a:extLst>
          </p:cNvPr>
          <p:cNvSpPr/>
          <p:nvPr/>
        </p:nvSpPr>
        <p:spPr>
          <a:xfrm>
            <a:off x="4160520" y="908501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Starts</a:t>
            </a:r>
            <a:endParaRPr lang="en-US" sz="1000"/>
          </a:p>
        </p:txBody>
      </p:sp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FE56C52C-AF0D-4FD6-7234-3AE5DF6CAD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8385264"/>
              </p:ext>
            </p:extLst>
          </p:nvPr>
        </p:nvGraphicFramePr>
        <p:xfrm>
          <a:off x="969264" y="1132972"/>
          <a:ext cx="7205472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7">
            <a:extLst>
              <a:ext uri="{FF2B5EF4-FFF2-40B4-BE49-F238E27FC236}">
                <a16:creationId xmlns:a16="http://schemas.microsoft.com/office/drawing/2014/main" id="{4C9D1160-7EE5-B9FD-ECEC-4729EE447CD4}"/>
              </a:ext>
            </a:extLst>
          </p:cNvPr>
          <p:cNvSpPr/>
          <p:nvPr/>
        </p:nvSpPr>
        <p:spPr>
          <a:xfrm>
            <a:off x="274320" y="3822192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11B96AE3-4D93-4CD0-EECB-BE04E14C79BD}"/>
              </a:ext>
            </a:extLst>
          </p:cNvPr>
          <p:cNvSpPr/>
          <p:nvPr/>
        </p:nvSpPr>
        <p:spPr>
          <a:xfrm>
            <a:off x="274320" y="3822192"/>
            <a:ext cx="64008" cy="1005840"/>
          </a:xfrm>
          <a:prstGeom prst="rect">
            <a:avLst/>
          </a:prstGeom>
          <a:solidFill>
            <a:srgbClr val="00A0B0"/>
          </a:solidFill>
          <a:ln w="12700">
            <a:solidFill>
              <a:srgbClr val="00A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09E34A2-9622-2EEE-573A-347DE41FF4A5}"/>
              </a:ext>
            </a:extLst>
          </p:cNvPr>
          <p:cNvSpPr/>
          <p:nvPr/>
        </p:nvSpPr>
        <p:spPr>
          <a:xfrm>
            <a:off x="411480" y="385876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construction start activity for qualified DON 444 HOPs with NTP issued and materials received.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reflects the program baseline; forecast reflects the current schedule; actuals reflect confirmed construction start dates.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10870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Complete Status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· Completions = MS16 Implementation Ends F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9" name="Text 6"/>
          <p:cNvSpPr/>
          <p:nvPr/>
        </p:nvSpPr>
        <p:spPr>
          <a:xfrm>
            <a:off x="3684147" y="85953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Completes</a:t>
            </a:r>
            <a:endParaRPr lang="en-US" sz="1000"/>
          </a:p>
        </p:txBody>
      </p:sp>
      <p:graphicFrame>
        <p:nvGraphicFramePr>
          <p:cNvPr id="10" name="Chart 1"/>
          <p:cNvGraphicFramePr/>
          <p:nvPr>
            <p:extLst>
              <p:ext uri="{D42A27DB-BD31-4B8C-83A1-F6EECF244321}">
                <p14:modId xmlns:p14="http://schemas.microsoft.com/office/powerpoint/2010/main" val="3978385826"/>
              </p:ext>
            </p:extLst>
          </p:nvPr>
        </p:nvGraphicFramePr>
        <p:xfrm>
          <a:off x="981357" y="1165860"/>
          <a:ext cx="7034981" cy="2793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7"/>
          <p:cNvSpPr/>
          <p:nvPr/>
        </p:nvSpPr>
        <p:spPr>
          <a:xfrm>
            <a:off x="274320" y="3982065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74320" y="3982065"/>
            <a:ext cx="64008" cy="1005840"/>
          </a:xfrm>
          <a:prstGeom prst="rect">
            <a:avLst/>
          </a:prstGeom>
          <a:solidFill>
            <a:srgbClr val="00A0B0"/>
          </a:solidFill>
          <a:ln w="12700">
            <a:solidFill>
              <a:srgbClr val="00A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38328" y="4027785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construction completion activity for qualified DON 444 HOPs with NTP issued and materials received.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reflects the program baseline; forecast reflects the current schedule; actuals reflect confirmed completion dates regardless of construction start status.</a:t>
            </a:r>
            <a:endParaRPr lang="en-US" sz="900" dirty="0"/>
          </a:p>
          <a:p>
            <a:pPr>
              <a:spcAft>
                <a:spcPts val="200"/>
              </a:spcAft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 Readiness, Power Needed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started (last 7 days)  ·  8 forecast (next 7 days)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/>
          <p:cNvSpPr/>
          <p:nvPr/>
        </p:nvSpPr>
        <p:spPr>
          <a:xfrm>
            <a:off x="274320" y="886968"/>
            <a:ext cx="8595360" cy="256032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9144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Started — MSS Ready or Ready Soon (4)</a:t>
            </a:r>
            <a:endParaRPr lang="en-US" sz="90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639204"/>
              </p:ext>
            </p:extLst>
          </p:nvPr>
        </p:nvGraphicFramePr>
        <p:xfrm>
          <a:off x="274320" y="1170432"/>
          <a:ext cx="8595360" cy="409651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Viaero Ops Mgr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Cx 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CX Notes / Live Status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NE-GI_UNION_PACIFIC-NE-GI_INDUSTRIAL_PARK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C. Bolton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Ready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09/23/2026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CO-ALAMOSA-CO-ALAMOSA_HOSP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S. Jordan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Ready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09/25/2026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/>
                        <a:t/>
                      </a:r>
                      <a:endParaRPr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NE-LEXINGTON_TG-NE-LEXINGTON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Ethos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C. Bolton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Ready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09/25/2026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/>
                        <a:t/>
                      </a:r>
                      <a:endParaRPr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CO-PRITCHETT_NORTH-CO-NINE_MILE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CJ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Site Property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S. Jordan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Ready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09/25/2026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/>
                        <a:t/>
                      </a:r>
                      <a:endParaRPr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00"/>
                        <a:t/>
                      </a:r>
                      <a:endParaRPr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49721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/>
                        <a:t/>
                      </a:r>
                      <a:endParaRPr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52916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/>
                        <a:t/>
                      </a:r>
                      <a:endParaRPr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01038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/>
                        <a:t/>
                      </a:r>
                      <a:endParaRPr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08048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/>
                        <a:t/>
                      </a:r>
                      <a:endParaRPr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74827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/>
                        <a:t/>
                      </a:r>
                      <a:endParaRPr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03942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/>
                        <a:t/>
                      </a:r>
                      <a:endParaRPr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43683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/>
                        <a:t/>
                      </a:r>
                      <a:endParaRPr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69723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3653028"/>
            <a:ext cx="8595360" cy="256032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36530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Starts — Next 7 Days, Not Yet Started (8)</a:t>
            </a:r>
            <a:endParaRPr lang="en-US" sz="90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775550"/>
              </p:ext>
            </p:extLst>
          </p:nvPr>
        </p:nvGraphicFramePr>
        <p:xfrm>
          <a:off x="274320" y="3953692"/>
          <a:ext cx="8595360" cy="62875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39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Viaero Ops Mgr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Cx 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CX Notes / Live Status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CO-HOOPER-CO-CENTER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Tech CX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S. Jordan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Ready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09/30/2026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NE-GI_INDUSTRIAL_PARK-NE-GILTNER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C. Bolton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NTP Only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09/30/2026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/>
                        <a:t/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NE-ALLIANCE_HOSP-NE-ALLIANCE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Tech CX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B. Brumbaugh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Ready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10/01/2026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NE-LEXINGTON_DT-NE-LEXINGTON_NORTH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CJ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C. Bolton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Blocked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10/02/2026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NE-BROKEN_BOW_NW-NE-BROKEN_BOW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Tech CX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C. Bolton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Ready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10/02/2026</a:t>
                      </a:r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CO-BLANCA_WEST-CO-ALAMOSA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CJ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Capital Tower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S. Jordan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NTP Only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10/05/2026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/>
                        <a:t/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NE-CEDAR_BLUFF-KS-OBERLIN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CJ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Site Property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C. Bolton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NTP Only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10/05/2026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/>
                        <a:t/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CO-MANZANOLA_DT-CO-MANZANOLA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CJ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Tech CX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S. Jordan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Blocked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10/06/2026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/>
                        <a:t/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/>
                        <a:t/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87908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/>
                        <a:t/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3993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/>
                        <a:t/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88355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/>
                        <a:t/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53514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/>
                        <a:t/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07037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/>
                        <a:t/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09079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/>
                        <a:t/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0902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/>
                        <a:t/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86437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/>
                        <a:t/>
                      </a:r>
                      <a:endParaRPr lang="en-US" sz="85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/>
                        <a:t/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6069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Start Look ahead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starts in the 7-day look-ahead  ·  09/29/2026 – 09/29/2026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8595360" cy="38404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9326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starts in the 7-day look-ahead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107424"/>
              </p:ext>
            </p:extLst>
          </p:nvPr>
        </p:nvGraphicFramePr>
        <p:xfrm>
          <a:off x="222069" y="1316736"/>
          <a:ext cx="8647611" cy="3886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961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536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Fc 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Site CM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Viaero Ops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</a:rPr>
                        <a:t>CO-HOOPER-CO-CENTER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Tech CX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09/30/2026</a:t>
                      </a:r>
                      <a:endParaRPr lang="en-US" sz="80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Steve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S. Jordan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chemeClr val="tx1"/>
                          </a:solidFill>
                        </a:rPr>
                        <a:t>NTP Complete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9/14/2026 (TJM) - BOM due to arrive on 9/18/2026.                                 8/6/2026: Due to material being pushed out a few weeks. CXS moved to align.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</a:rPr>
                        <a:t>NE-GI_INDUSTRIAL_PARK-NE-GILTNER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09/30/2026</a:t>
                      </a:r>
                      <a:endParaRPr lang="en-US" sz="80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Chris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C. Bolton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chemeClr val="tx1"/>
                          </a:solidFill>
                        </a:rPr>
                        <a:t>NTP Complete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9/24/2026: (CJ) Material expected 9/25 at sydney.  | 9/23: material in market no later than 9/28, need to complete by 10/15 | 9/17: material RtS (f) 9/28 | 8/27: can we get aims from somewhere | 8/12: Need ad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</a:rPr>
                        <a:t>NE-ALLIANCE_HOSP-NE-ALLIANCE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Tech CX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10/01/2026</a:t>
                      </a:r>
                      <a:endParaRPr lang="en-US" sz="80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Steve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B. Brumbaugh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chemeClr val="tx1"/>
                          </a:solidFill>
                        </a:rPr>
                        <a:t>Hosp pending LL approval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9/28/2026: (CJ) Per Barry with Tom - Hoping to kick off by 9/30. | 9/15:per Barry, Nokia follow samsung, approx CxS 10/1;  LL approval rec'd, ITW install platform nlt Monday; firm up schedule on next Tu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</a:rPr>
                        <a:t>NE-LEXINGTON_DT-NE-LEXINGTON_NORTH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CJ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10/02/2026</a:t>
                      </a:r>
                      <a:endParaRPr lang="en-US" sz="80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Chris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C. Bolton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chemeClr val="tx1"/>
                          </a:solidFill>
                        </a:rPr>
                        <a:t>NTP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9/24/2026: (CJ) Material expect on 10/1. syndy | 9/22: eqpt eta 10/9 at Sidney, HIGH PRIORITY to start on 10/10 and complete no later than 10/17 | 9/15: cable installed at DT; ITW to build RAN this week; 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</a:rPr>
                        <a:t>NE-BROKEN_BOW_NW-NE-BROKEN_BOW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Tech CX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10/02/2026</a:t>
                      </a:r>
                      <a:endParaRPr lang="en-US" sz="80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Tom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C. Bolton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chemeClr val="tx1"/>
                          </a:solidFill>
                        </a:rPr>
                        <a:t>NTP Complete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/>
                        <a:t>9/23: eqpt delivered to market on Monday- ready to go | 9/17: SDS complete- hotshot to Sidney, need to pull 2' dishes from market | 8/8: reallocation hop, will use eqpt from Hillrose_Atwood; RtS forecast 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/>
                        <a:t>CO-BLANCA_WEST-CO-ALAMOSA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CJ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Capital Tower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10/05/2026</a:t>
                      </a:r>
                      <a:endParaRPr lang="en-US" sz="80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Chris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S. Jordan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NTP Complete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/>
                        <a:t>9/28/2026: (CJ) Moved in to go ahead of SS. | 9/17: Em working SDS | 9/11: SS target start last week of sept (on for 4-6 weeks) | 9/8: request hot shot | 8/28: Capital working RAN on Blanca West | 8/10: cx date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/>
                        <a:t>NE-CEDAR_BLUFF-KS-OBERLIN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CJ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Site Property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10/05/2026</a:t>
                      </a:r>
                      <a:endParaRPr lang="en-US" sz="80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George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C. Bolton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NTP Complete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9/23/2026: (CJ) Gene found 2 wire solution | 9/18/2026: (CJ) 	Material expeced to come out by next week. 10/5 was reported but pushed to pull in by next week. Shielded cable stuck in customs. | 9/17: pend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CO-MANZANOLA_DT-CO-MANZANOLA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CJ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Tech CX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10/06/2026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Steve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S. Jordan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pending LLD approval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9/28/2026: (CJ) Pulling in to beat SS.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00703C"/>
                          </a:solidFill>
                        </a:rPr>
                        <a:t/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/>
                        <a:t/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dirty="0" sz="800"/>
                        <a:t/>
                      </a: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00B050"/>
                          </a:solidFill>
                        </a:rPr>
                        <a:t/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/>
                        <a:t/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 in Progress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HOPs started · Green=On Track · Yellow=At Risk · Red=Escalation · ⚑=Needs Attention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85403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93100211-95F3-CC27-0CAE-AEFFF218D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129478"/>
              </p:ext>
            </p:extLst>
          </p:nvPr>
        </p:nvGraphicFramePr>
        <p:xfrm>
          <a:off x="163285" y="850392"/>
          <a:ext cx="8817429" cy="8999091"/>
        </p:xfrm>
        <a:graphic>
          <a:graphicData uri="http://schemas.openxmlformats.org/drawingml/2006/table">
            <a:tbl>
              <a:tblPr/>
              <a:tblGrid>
                <a:gridCol w="2598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0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8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582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65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Cx 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Fc 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 / Live Status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NE-BURWELL_DT_HUB-NE-BURWELL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Tech CX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09/01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09/29/26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🔴 Over 18d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9/28/2026: (CJ) 	Couldnt get on the site until today due to the event over weekend. Crew will be on site today and compl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NE-KEARNEY_MALL-NE-KEARNEY_CAMPUS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Mastec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09/15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09/30/26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9/28/2026: (CJ) 	Waiting on Chris B to let us know if we can move forward. | 9/23/2026: (CJ) 	Talked with SS, the got in t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NE-MERRITT_RESERVOIR-NE-VALENTINE_SOUTH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Tech CX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09/17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09/30/26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9/28/2026: (CJ) Meeting Chris B this morning at 10 at Valentine south. Tracking for HOT cut. | 9/24/2026: (CJ) Valentine 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CO-PUEBLO_BYPASS-CO-ABBEY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WaveLink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09/18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09/30/26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9/23/2026:(CJ) after 2 previous HOPS GC will complete this one by end of month.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CO-ALAMOSA-CO-ALAMOSA_SALES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Capital Tower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09/16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10/01/26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9/28/2026; (CJ) 	If weather holds we will be able completed. | 9/24/2026: (CJ) On track | 9/23/2026:(CJ) Weather not looking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★ NE-GI_UNION_PACIFIC-NE-GI_INDUSTRIAL_PARK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Capital Tower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09/23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10/02/26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★ NEW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9/23/2026: (CJ) Working on the industrial side of this HOP. SS is on the Union specific. They working it as well and nee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NE-GI_INDUSTRIAL_PARK-NE-GIBBON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Capital Tower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09/14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10/03/26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9/28/2026: (CJ) 	Material picked up on Saturday and tracking 10/3. | 9/24/2026: (CJ) Material expect in by 9/25. at the co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CO-STERLING_DT-CO-STERLING_FG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Capital Tower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09/17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10/05/26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9/24/2026: (CJ) Crew has Sterling DT prepped and ready to go waiting on Samsung | 9/17: start on DT side today, will do sh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★ NE-LEXINGTON_TG-NE-LEXINGTON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Ethos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09/25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10/05/26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★ NEW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9/28/2026: (CJ) Tower MOD is still in progress on the Lexington TG. Crew working on the Lexington side and punch lists .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★ CO-PRITCHETT_NORTH-CO-NINE_MILE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Site Property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09/25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10/05/26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★ NEW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9/23/2026: (CJ) Material being picked up today from warehouse and ITW if approved. | 9/21/2026:(CJ) Scheduled to pick up t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★ CO-ALAMOSA-CO-ALAMOSA_HOSP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>Capital Tower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09/25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10/07/26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★ NEW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9/28/2026: (CJ) Worked the Alamosa side while we wait on the Hosp. Approval. | 9/17: pending feedback from Kyle, green lig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/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/>
                      </a:r>
                      <a:endParaRPr lang="en-US" sz="75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/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/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446916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849930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/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 dirty="0"/>
                        <a:t/>
                      </a: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031540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403811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858238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dirty="0" sz="800"/>
                        <a:t/>
                      </a: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2700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Forecasted July POR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Plan of Record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651760" cy="12344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000"/>
          </a:p>
        </p:txBody>
      </p:sp>
      <p:sp>
        <p:nvSpPr>
          <p:cNvPr id="9" name="Text 7"/>
          <p:cNvSpPr/>
          <p:nvPr/>
        </p:nvSpPr>
        <p:spPr>
          <a:xfrm>
            <a:off x="2743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POR HOPs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51760" cy="1234440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000"/>
          </a:p>
        </p:txBody>
      </p:sp>
      <p:sp>
        <p:nvSpPr>
          <p:cNvPr id="12" name="Text 10"/>
          <p:cNvSpPr/>
          <p:nvPr/>
        </p:nvSpPr>
        <p:spPr>
          <a:xfrm>
            <a:off x="32461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NTP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377440" cy="1234440"/>
          </a:xfrm>
          <a:prstGeom prst="rect">
            <a:avLst/>
          </a:prstGeom>
          <a:solidFill>
            <a:srgbClr val="FFF2CC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996696"/>
            <a:ext cx="237744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6217920" y="1700784"/>
            <a:ext cx="237744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NTP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8595360" cy="310896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3682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POR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27432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697480"/>
            <a:ext cx="2743200" cy="18288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600"/>
          </a:p>
        </p:txBody>
      </p:sp>
      <p:sp>
        <p:nvSpPr>
          <p:cNvPr id="21" name="Text 19"/>
          <p:cNvSpPr/>
          <p:nvPr/>
        </p:nvSpPr>
        <p:spPr>
          <a:xfrm>
            <a:off x="27432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- High Confidence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315468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54680" y="2697480"/>
            <a:ext cx="2743200" cy="18288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5468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/>
          </a:p>
        </p:txBody>
      </p:sp>
      <p:sp>
        <p:nvSpPr>
          <p:cNvPr id="25" name="Text 23"/>
          <p:cNvSpPr/>
          <p:nvPr/>
        </p:nvSpPr>
        <p:spPr>
          <a:xfrm>
            <a:off x="315468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- Medium Risk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603504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5040" y="2697480"/>
            <a:ext cx="2743200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3504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/>
          </a:p>
        </p:txBody>
      </p:sp>
      <p:sp>
        <p:nvSpPr>
          <p:cNvPr id="29" name="Text 27"/>
          <p:cNvSpPr/>
          <p:nvPr/>
        </p:nvSpPr>
        <p:spPr>
          <a:xfrm>
            <a:off x="603504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- High Risk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274320" y="3785616"/>
            <a:ext cx="8595360" cy="402336"/>
          </a:xfrm>
          <a:prstGeom prst="rect">
            <a:avLst/>
          </a:prstGeom>
          <a:solidFill>
            <a:srgbClr val="D6E4F5"/>
          </a:solidFill>
          <a:ln w="12700">
            <a:solidFill>
              <a:srgbClr val="CC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384962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with NTP of 28 POR  ·  0 pending NTP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with NTP of 28 POR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POR with NTPs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334209"/>
              </p:ext>
            </p:extLst>
          </p:nvPr>
        </p:nvGraphicFramePr>
        <p:xfrm>
          <a:off x="0" y="940526"/>
          <a:ext cx="9166860" cy="69799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213279905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Mat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Status / Notes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NE-CHAMBERS-NE-ONEILL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NV Tel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07/01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08/31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 i="1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  <a:endParaRPr lang="en-US" sz="8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NE-ALLIANCE-NE-ALLIANCE_DT_WEST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MZI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07/08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07/20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 i="1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  <a:endParaRPr lang="en-US" sz="8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NE-SHELBY-NE-STROMSBURG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David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WaveLink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07/08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07/13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 i="1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  <a:endParaRPr lang="en-US" sz="8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NE-LISCO_TG-NE-LISCO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MZI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07/09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07/24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 i="1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  <a:endParaRPr lang="en-US" sz="8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NE-HAIGLER_EAST-CO-IDALIA_EAST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David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Site Property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07/11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07/30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 i="1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  <a:endParaRPr lang="en-US" sz="8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NE-BEREA_DT-NE-HEMINGFORD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NV Tel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07/11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08/14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 i="1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  <a:endParaRPr lang="en-US" sz="8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NE-IMPERIAL_HS-NE-IMPERIAL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Vikor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07/13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07/29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 i="1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  <a:endParaRPr lang="en-US" sz="8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NE-LISCO_TG-NE-CHAPPELL_TG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MZI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07/13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09/01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 i="1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  <a:endParaRPr lang="en-US" sz="8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NE-JOHNSON_LAKE_TG-NE-OVERTON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Tech CX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07/13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08/11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 i="1">
                          <a:solidFill>
                            <a:schemeClr val="tx1"/>
                          </a:solidFill>
                          <a:latin typeface="+mn-lt"/>
                        </a:rPr>
                        <a:t>Pending new Tower ETA 7/15. NTP Complete</a:t>
                      </a:r>
                      <a:endParaRPr lang="en-US" sz="8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NE-OSCEOLA-NE-SHELBY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David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WaveLink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07/13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07/15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 i="1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  <a:endParaRPr lang="en-US" sz="8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NE-IMPERIAL-NE-IMPERIAL_NORTH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David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Viking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07/14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07/24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 i="1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  <a:endParaRPr lang="en-US" sz="8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NE-SQUAW_MOUND-NE-MARSLAND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Vikor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07/14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07/30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 i="1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  <a:endParaRPr lang="en-US" sz="8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NE-CLINTON-NE-RUSHVILLE_NORTH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David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07/14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07/17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 i="1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  <a:endParaRPr lang="en-US" sz="8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NE-NORFOLK_TWO-NE-NORFOLK_DT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David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07/14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07/22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NE-STRATTON-NE-BENKELMAN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David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07/14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07/29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17775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NE-COZAD-NE-LEXINGTON_WEST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Tech CX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07/15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07/31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365349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NE-COZAD-NE-OVERTON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CJ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Tech CX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07/15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08/08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178035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NE-CHAMPION-NE-HAIGLER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David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Site Property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07/16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07/20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36929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NE-HAIGLER-NE-HAIGLER_EAST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David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Site Property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07/19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07/20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16993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NE-IMPERIAL-NE-GRANT_SOUTH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David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Viking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07/21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08/07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073301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NE-ALLIANCE-NE-HEMINGFORD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CJ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MZI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07/22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09/11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73947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NE-GORDON-NE-GORDON_NORTH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David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07/23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07/29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925128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NE-COLUMBUS_NW-NE-PLATTE_CENTER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MZI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07/27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08/12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85441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NE-ALLIANCE-NE-ALLIANCE_WEST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MZI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07/28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08/24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59514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NE-SCOTTSBLUFF_COUNTRY_CLUB-NE-SCOTTSBLUFF_NORTH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MZI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07/28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08/03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59309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NE-SQUAW_MOUND-NE-STATE_PARK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Vikor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07/31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09/02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688751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NE-COLUMBUS_SW-NE-SHELBY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David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WaveLink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07/31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08/15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81902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NE-HAYES_CENTER-NE-WAUNETA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David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07/31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08/20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latin typeface="+mn-lt"/>
                        </a:rPr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8190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28 pending NTP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POR Pending NTPs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/>
          <p:cNvSpPr/>
          <p:nvPr/>
        </p:nvSpPr>
        <p:spPr>
          <a:xfrm>
            <a:off x="274320" y="886968"/>
            <a:ext cx="8595360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9052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Blockers (0)  —  ITW · Samsung · Viaero</a:t>
            </a:r>
            <a:endParaRPr lang="en-US" sz="85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52144"/>
          <a:ext cx="8686800" cy="644652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84393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6899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861491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84048" y="43251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Team Actions (0)</a:t>
            </a:r>
            <a:endParaRPr lang="en-US" sz="85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854642"/>
              </p:ext>
            </p:extLst>
          </p:nvPr>
        </p:nvGraphicFramePr>
        <p:xfrm>
          <a:off x="274320" y="3204972"/>
          <a:ext cx="8686800" cy="35052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7613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Forecasted August POR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Plan of Record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651760" cy="12344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/>
          </a:p>
        </p:txBody>
      </p:sp>
      <p:sp>
        <p:nvSpPr>
          <p:cNvPr id="9" name="Text 7"/>
          <p:cNvSpPr/>
          <p:nvPr/>
        </p:nvSpPr>
        <p:spPr>
          <a:xfrm>
            <a:off x="2743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POR HOPs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51760" cy="1234440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/>
          </a:p>
        </p:txBody>
      </p:sp>
      <p:sp>
        <p:nvSpPr>
          <p:cNvPr id="12" name="Text 10"/>
          <p:cNvSpPr/>
          <p:nvPr/>
        </p:nvSpPr>
        <p:spPr>
          <a:xfrm>
            <a:off x="32461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NTP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377440" cy="1234440"/>
          </a:xfrm>
          <a:prstGeom prst="rect">
            <a:avLst/>
          </a:prstGeom>
          <a:solidFill>
            <a:srgbClr val="FFF2CC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996696"/>
            <a:ext cx="237744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6217920" y="1700784"/>
            <a:ext cx="237744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NTP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8595360" cy="310896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3682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POR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27432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697480"/>
            <a:ext cx="2743200" cy="18288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600"/>
          </a:p>
        </p:txBody>
      </p:sp>
      <p:sp>
        <p:nvSpPr>
          <p:cNvPr id="21" name="Text 19"/>
          <p:cNvSpPr/>
          <p:nvPr/>
        </p:nvSpPr>
        <p:spPr>
          <a:xfrm>
            <a:off x="27432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- High Confidence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315468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54680" y="2697480"/>
            <a:ext cx="2743200" cy="18288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5468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/>
          </a:p>
        </p:txBody>
      </p:sp>
      <p:sp>
        <p:nvSpPr>
          <p:cNvPr id="25" name="Text 23"/>
          <p:cNvSpPr/>
          <p:nvPr/>
        </p:nvSpPr>
        <p:spPr>
          <a:xfrm>
            <a:off x="315468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- Medium Risk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603504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5040" y="2697480"/>
            <a:ext cx="2743200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3504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/>
          </a:p>
        </p:txBody>
      </p:sp>
      <p:sp>
        <p:nvSpPr>
          <p:cNvPr id="29" name="Text 27"/>
          <p:cNvSpPr/>
          <p:nvPr/>
        </p:nvSpPr>
        <p:spPr>
          <a:xfrm>
            <a:off x="603504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- High Risk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274320" y="3785616"/>
            <a:ext cx="8595360" cy="402336"/>
          </a:xfrm>
          <a:prstGeom prst="rect">
            <a:avLst/>
          </a:prstGeom>
          <a:solidFill>
            <a:srgbClr val="D6E4F5"/>
          </a:solidFill>
          <a:ln w="12700">
            <a:solidFill>
              <a:srgbClr val="CC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384962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with NTP of 13 POR  ·  0 pending NTP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with NTP of 13 POR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POR with NTPs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905149"/>
              </p:ext>
            </p:extLst>
          </p:nvPr>
        </p:nvGraphicFramePr>
        <p:xfrm>
          <a:off x="0" y="896112"/>
          <a:ext cx="9166860" cy="17983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745318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3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13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Mat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Status / Notes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NE-GIBBON-NE-PLEASANTON_SOUTH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David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08/02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08/10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 i="1">
                          <a:solidFill>
                            <a:schemeClr val="tx1"/>
                          </a:solidFill>
                        </a:rPr>
                        <a:t>NTP complete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NE-GI_INDUSTRIAL_PARK-NE-GI_HOLIDAY_INN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David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08/03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08/14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 i="1">
                          <a:solidFill>
                            <a:schemeClr val="tx1"/>
                          </a:solidFill>
                        </a:rPr>
                        <a:t>NTP Complete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NE-NP_HOSP-NE-MAXWELL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David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WaveLink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08/06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08/17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NTP complete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NE-HASTINGS_NORTH-NE-HASTINGS_SALES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David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Capital Tower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08/07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08/17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NTP Complete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9582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NE-CROOKSTON_SOUTH-NE-VALENTINE_NE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CJ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Tech CX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08/12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08/19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NTP Complete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9582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NE-ROSCOE-NE-KEYSTONE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David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Capital Tower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08/17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08/28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NTP Complete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9582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NE-ATKINSON-NE-MIDWAY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Don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WaveLink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08/19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08/26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NTP Complete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9582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NE-SQUAW_MOUND-NE-CHADRON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CJ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Tech CX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08/20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09/09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NTP Complete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9582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NE-COLUMBUS_NW-NE-COLUMBUS_HS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CJ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MZI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08/21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08/24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NTP Complete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9582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NE-CRAWFORD_WEST-NE-HARRISON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CJ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Mastec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08/25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09/09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NTP Complete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9582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NE-ALMA-KS-WALNUT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CJ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Tech CX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08/28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09/25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NTP Complete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9582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CO-MONTE_VISTA_CITY_HALL-CO-MONTE_VISTA_SW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David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WaveLink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08/30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09/17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NTP Complete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9582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CO-ALAMOSA-CO-ALAMOSA_SE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David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Capital Tower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08/31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09/09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NTP Complete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9582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/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9582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/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9582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/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9582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/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9582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/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9582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C00000"/>
                          </a:solidFill>
                        </a:rPr>
                        <a:t/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9582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C00000"/>
                          </a:solidFill>
                        </a:rPr>
                        <a:t/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9582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/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9582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C00000"/>
                          </a:solidFill>
                        </a:rPr>
                        <a:t/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3958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13 pending NTP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POR Pending NTPs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/>
          <p:cNvSpPr/>
          <p:nvPr/>
        </p:nvSpPr>
        <p:spPr>
          <a:xfrm>
            <a:off x="274320" y="886968"/>
            <a:ext cx="8595360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9052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Blockers (0)  —  ITW · Samsung · Viaero</a:t>
            </a:r>
            <a:endParaRPr lang="en-US" sz="85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52144"/>
          <a:ext cx="8686800" cy="489204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21125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0242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15935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194739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19" y="6327574"/>
            <a:ext cx="8686799" cy="237744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4048" y="6348983"/>
            <a:ext cx="8229600" cy="240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Team Actions (0)</a:t>
            </a:r>
            <a:endParaRPr lang="en-US" sz="85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206587"/>
              </p:ext>
            </p:extLst>
          </p:nvPr>
        </p:nvGraphicFramePr>
        <p:xfrm>
          <a:off x="274320" y="6543908"/>
          <a:ext cx="8686800" cy="1076706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D4860A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D4860A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D4860A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D4860A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D4860A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D4860A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D4860A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D4860A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D4860A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217346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D4860A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i="1">
                          <a:solidFill>
                            <a:srgbClr val="333333"/>
                          </a:solidFill>
                        </a:rPr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8431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6D08C-7A3B-6123-F3C3-DB997DB94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9A04E4-49C8-B3FB-97F5-B255C283E50F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3220A6-12C5-1AC9-42D3-33418E12ED52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Forecasted September POR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9CC308-DB1C-2247-DF59-4D7F45C26E33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Plan of Record</a:t>
            </a:r>
            <a:endParaRPr lang="en-US"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A41B8FC-05B3-39BF-FD04-EEDD8FC9D077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AAB7F0C-1365-67E7-C8FB-9B656BC995C0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959A75D-4103-9141-6813-F1F77CFCEACE}"/>
              </a:ext>
            </a:extLst>
          </p:cNvPr>
          <p:cNvSpPr/>
          <p:nvPr/>
        </p:nvSpPr>
        <p:spPr>
          <a:xfrm>
            <a:off x="274320" y="960120"/>
            <a:ext cx="2651760" cy="12344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712EB38-2852-C4D7-A674-52A74DD56EA0}"/>
              </a:ext>
            </a:extLst>
          </p:cNvPr>
          <p:cNvSpPr/>
          <p:nvPr/>
        </p:nvSpPr>
        <p:spPr>
          <a:xfrm>
            <a:off x="2743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124191"/>
                </a:solidFill>
              </a:rPr>
              <a:t>25</a:t>
            </a:r>
            <a:endParaRPr lang="en-US" sz="3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7EDE005-6D9E-4033-7605-D0DF3247BEF6}"/>
              </a:ext>
            </a:extLst>
          </p:cNvPr>
          <p:cNvSpPr/>
          <p:nvPr/>
        </p:nvSpPr>
        <p:spPr>
          <a:xfrm>
            <a:off x="2743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POR HOPs</a:t>
            </a:r>
            <a:endParaRPr lang="en-US" sz="9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87E092D-BDE8-585D-B64D-0EB674C8A806}"/>
              </a:ext>
            </a:extLst>
          </p:cNvPr>
          <p:cNvSpPr/>
          <p:nvPr/>
        </p:nvSpPr>
        <p:spPr>
          <a:xfrm>
            <a:off x="3246120" y="960120"/>
            <a:ext cx="2651760" cy="1234440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287F31A-BF71-AE9D-6781-264A624DDA9C}"/>
              </a:ext>
            </a:extLst>
          </p:cNvPr>
          <p:cNvSpPr/>
          <p:nvPr/>
        </p:nvSpPr>
        <p:spPr>
          <a:xfrm>
            <a:off x="32461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217346"/>
                </a:solidFill>
              </a:rPr>
              <a:t>24</a:t>
            </a:r>
            <a:endParaRPr lang="en-US" sz="3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C35EE5A-01BF-C24C-02C9-B267C71D3DF4}"/>
              </a:ext>
            </a:extLst>
          </p:cNvPr>
          <p:cNvSpPr/>
          <p:nvPr/>
        </p:nvSpPr>
        <p:spPr>
          <a:xfrm>
            <a:off x="32461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NTP</a:t>
            </a:r>
            <a:endParaRPr lang="en-US" sz="9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936D261-0359-1B5B-F21B-B8B7365411CB}"/>
              </a:ext>
            </a:extLst>
          </p:cNvPr>
          <p:cNvSpPr/>
          <p:nvPr/>
        </p:nvSpPr>
        <p:spPr>
          <a:xfrm>
            <a:off x="6217920" y="960120"/>
            <a:ext cx="2377440" cy="1234440"/>
          </a:xfrm>
          <a:prstGeom prst="rect">
            <a:avLst/>
          </a:prstGeom>
          <a:solidFill>
            <a:srgbClr val="FFF2CC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7930F25-A1F8-6125-626E-3F2570EEE767}"/>
              </a:ext>
            </a:extLst>
          </p:cNvPr>
          <p:cNvSpPr/>
          <p:nvPr/>
        </p:nvSpPr>
        <p:spPr>
          <a:xfrm>
            <a:off x="6217920" y="996696"/>
            <a:ext cx="237744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D4860A"/>
                </a:solidFill>
              </a:rPr>
              <a:t>1</a:t>
            </a:r>
            <a:endParaRPr lang="en-US" sz="3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D0E043E-A423-36A0-FA02-FA50C218D7EF}"/>
              </a:ext>
            </a:extLst>
          </p:cNvPr>
          <p:cNvSpPr/>
          <p:nvPr/>
        </p:nvSpPr>
        <p:spPr>
          <a:xfrm>
            <a:off x="6217920" y="1700784"/>
            <a:ext cx="237744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NTP</a:t>
            </a:r>
            <a:endParaRPr lang="en-US" sz="9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915E140-E748-F051-77EA-018EB397C97F}"/>
              </a:ext>
            </a:extLst>
          </p:cNvPr>
          <p:cNvSpPr/>
          <p:nvPr/>
        </p:nvSpPr>
        <p:spPr>
          <a:xfrm>
            <a:off x="274320" y="2331720"/>
            <a:ext cx="8595360" cy="310896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A63D3BD-AF53-FBDA-CBCE-629CC07B3A52}"/>
              </a:ext>
            </a:extLst>
          </p:cNvPr>
          <p:cNvSpPr/>
          <p:nvPr/>
        </p:nvSpPr>
        <p:spPr>
          <a:xfrm>
            <a:off x="411480" y="23682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POR</a:t>
            </a:r>
            <a:endParaRPr lang="en-US" sz="10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CAD1BF1-26C3-E615-CAF5-D157958D67E3}"/>
              </a:ext>
            </a:extLst>
          </p:cNvPr>
          <p:cNvSpPr/>
          <p:nvPr/>
        </p:nvSpPr>
        <p:spPr>
          <a:xfrm>
            <a:off x="27432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0CCD682-75E2-37AF-6EA2-7E3EE15EFD5A}"/>
              </a:ext>
            </a:extLst>
          </p:cNvPr>
          <p:cNvSpPr/>
          <p:nvPr/>
        </p:nvSpPr>
        <p:spPr>
          <a:xfrm>
            <a:off x="274320" y="2697480"/>
            <a:ext cx="2743200" cy="18288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E7FA85B-FB76-465E-E9F5-FA67A015CD1A}"/>
              </a:ext>
            </a:extLst>
          </p:cNvPr>
          <p:cNvSpPr/>
          <p:nvPr/>
        </p:nvSpPr>
        <p:spPr>
          <a:xfrm>
            <a:off x="27432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24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90B1DA6-DACF-D8E9-C7F4-977E91214ED8}"/>
              </a:ext>
            </a:extLst>
          </p:cNvPr>
          <p:cNvSpPr/>
          <p:nvPr/>
        </p:nvSpPr>
        <p:spPr>
          <a:xfrm>
            <a:off x="27432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- High Confidence</a:t>
            </a:r>
            <a:endParaRPr lang="en-US" sz="9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A84029A-F120-42CF-58AF-46E2EAAAEA26}"/>
              </a:ext>
            </a:extLst>
          </p:cNvPr>
          <p:cNvSpPr/>
          <p:nvPr/>
        </p:nvSpPr>
        <p:spPr>
          <a:xfrm>
            <a:off x="315468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6D20D29-1428-ACD8-A50C-8F7B0E291CFB}"/>
              </a:ext>
            </a:extLst>
          </p:cNvPr>
          <p:cNvSpPr/>
          <p:nvPr/>
        </p:nvSpPr>
        <p:spPr>
          <a:xfrm>
            <a:off x="3154680" y="2697480"/>
            <a:ext cx="2743200" cy="18288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4D8D556-044F-3112-F8E5-8D5412F1E4BD}"/>
              </a:ext>
            </a:extLst>
          </p:cNvPr>
          <p:cNvSpPr/>
          <p:nvPr/>
        </p:nvSpPr>
        <p:spPr>
          <a:xfrm>
            <a:off x="315468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0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9A9E4B2-FB69-FAE3-E5FB-A5F425753495}"/>
              </a:ext>
            </a:extLst>
          </p:cNvPr>
          <p:cNvSpPr/>
          <p:nvPr/>
        </p:nvSpPr>
        <p:spPr>
          <a:xfrm>
            <a:off x="315468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- Medium Risk</a:t>
            </a:r>
            <a:endParaRPr lang="en-US" sz="9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F7C5C04-451D-63CC-709C-23F050C2D9FA}"/>
              </a:ext>
            </a:extLst>
          </p:cNvPr>
          <p:cNvSpPr/>
          <p:nvPr/>
        </p:nvSpPr>
        <p:spPr>
          <a:xfrm>
            <a:off x="603504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D924947-65A6-7BFF-E1A2-0CB07E40BABE}"/>
              </a:ext>
            </a:extLst>
          </p:cNvPr>
          <p:cNvSpPr/>
          <p:nvPr/>
        </p:nvSpPr>
        <p:spPr>
          <a:xfrm>
            <a:off x="6035040" y="2697480"/>
            <a:ext cx="2743200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CD7FFD9-4941-67D7-DB95-2E7163ED14BF}"/>
              </a:ext>
            </a:extLst>
          </p:cNvPr>
          <p:cNvSpPr/>
          <p:nvPr/>
        </p:nvSpPr>
        <p:spPr>
          <a:xfrm>
            <a:off x="603504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1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F004838-A388-FFBD-E4B3-5505B211E35F}"/>
              </a:ext>
            </a:extLst>
          </p:cNvPr>
          <p:cNvSpPr/>
          <p:nvPr/>
        </p:nvSpPr>
        <p:spPr>
          <a:xfrm>
            <a:off x="603504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- High Risk</a:t>
            </a:r>
            <a:endParaRPr lang="en-US" sz="9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3FA811A-5994-231D-1FB6-07251B08CCBE}"/>
              </a:ext>
            </a:extLst>
          </p:cNvPr>
          <p:cNvSpPr/>
          <p:nvPr/>
        </p:nvSpPr>
        <p:spPr>
          <a:xfrm>
            <a:off x="274320" y="3785616"/>
            <a:ext cx="8595360" cy="402336"/>
          </a:xfrm>
          <a:prstGeom prst="rect">
            <a:avLst/>
          </a:prstGeom>
          <a:solidFill>
            <a:srgbClr val="D6E4F5"/>
          </a:solidFill>
          <a:ln w="12700">
            <a:solidFill>
              <a:srgbClr val="CC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B9C9D8E-6904-0028-002E-2001B9E7E2CB}"/>
              </a:ext>
            </a:extLst>
          </p:cNvPr>
          <p:cNvSpPr/>
          <p:nvPr/>
        </p:nvSpPr>
        <p:spPr>
          <a:xfrm>
            <a:off x="411480" y="384962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/>
              <a:t>24 with NTP of 25 POR  ·  1 pending NTP</a:t>
            </a:r>
          </a:p>
        </p:txBody>
      </p:sp>
    </p:spTree>
    <p:extLst>
      <p:ext uri="{BB962C8B-B14F-4D97-AF65-F5344CB8AC3E}">
        <p14:creationId xmlns:p14="http://schemas.microsoft.com/office/powerpoint/2010/main" val="1224337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31F77-63D5-08B5-9BD0-F8FC654DA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F635A9-7746-C430-641A-24E1766935F3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1126F5-63BC-04E8-F027-FF8D26AD9DC3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with NTP of 25 POR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9D3B04-4813-5181-88C9-AE22C790C750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POR with NTPs</a:t>
            </a:r>
            <a:endParaRPr lang="en-US"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319923-F5D5-B880-B3FF-79FDFC9CFA7A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B03ABEA-CE17-40E2-D8EF-878BE9A45A4F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B8417265-0398-F825-2EFD-C42DD00D4B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433322"/>
              </p:ext>
            </p:extLst>
          </p:nvPr>
        </p:nvGraphicFramePr>
        <p:xfrm>
          <a:off x="228600" y="868680"/>
          <a:ext cx="9166860" cy="9448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745318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Mat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Status / Notes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NE-BURWELL_DT_HUB-NE-BURWELL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Tech CX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09/29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NE-GERING_DT-NE-GERING_NORTH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David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Site Property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NE-HOBIN-NE-SWAN_LAKE_NORTH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Tech CX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09/18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CO-ANTONITO_DT-CO-ANTONITO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WaveLink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352119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NE-ONEILL-NE-MIDWAY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CO-ROMEO_DT-CO-MANASSA_NW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WaveLink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NE-JOHNSTOWN-NE-VALENTINE_SOUTH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Site Property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09/19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complete. New tower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CO-MONTE_VISTA-CO-ALAMOSA_SALES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WaveLink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09/09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NE-KEARNEY_ALLTELL-NE-KEARNEY_CAMPUS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Mastec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NE-HASTINGS_NORTH-NE-HASTINGS_NAPA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David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Site Property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NE-GI_INDUSTRIAL_PARK-NE-GIBBON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NE-COLUMBUS_SW-NE-COLUMBUS_DT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Tech CX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NE-STAPLETON-NE-THEDFORD_SOUTH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Ethos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NE-LEXINGTON_HS-NE-LEXINGTON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CO-ALAMOSA-CO-ALAMOSA_SALES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NE-MERRITT_RESERVOIR-NE-VALENTINE_SOUTH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Tech CX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09/30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NE-KEARNEY_MALL-NE-KEARNEY_CAMPUS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Mastec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09/18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09/30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CO-PUEBLO_BYPASS-CO-ABBEY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WaveLink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09/18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09/30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 Action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NE-GI_UNION_PACIFIC-NE-GI_INDUSTRIAL_PARK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SBA stacking tower now - ready 9/14/26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CO-ALAMOSA-CO-ALAMOSA_HOSP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ITW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Complete. Hosp Pending LL approval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NE-LEXINGTON_TG-NE-LEXINGTON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Ethos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CO-PRITCHETT_NORTH-CO-NINE_MILE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Site Property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CO-HOOPER-CO-CENTER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Tech CX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09/30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NE-GI_INDUSTRIAL_PARK-NE-GILTNER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Capital Tower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09/30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/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/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/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354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57EB8-6DCB-2F97-F3D9-9E9525A88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03572D-7984-C930-5D06-44F3D966298B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30FCCB-D1CA-1E1B-2BC5-D83495908DE7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25 pending NTP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FB0760-68F0-AAA4-6074-8D68B0E52768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POR Pending NTPs</a:t>
            </a:r>
            <a:endParaRPr lang="en-US"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0386F2-45AC-5582-B5DF-35E3B4607C95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BBBB1EA-9170-8279-9358-D538C6A5B8DF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27CF3FA-F675-F777-F24B-9824979E27ED}"/>
              </a:ext>
            </a:extLst>
          </p:cNvPr>
          <p:cNvSpPr/>
          <p:nvPr/>
        </p:nvSpPr>
        <p:spPr>
          <a:xfrm>
            <a:off x="274320" y="886968"/>
            <a:ext cx="8595360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FA95A35-F27E-F30C-01A6-92F821783971}"/>
              </a:ext>
            </a:extLst>
          </p:cNvPr>
          <p:cNvSpPr/>
          <p:nvPr/>
        </p:nvSpPr>
        <p:spPr>
          <a:xfrm>
            <a:off x="384048" y="9052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Blockers (1)  —  ITW · Samsung · Viaero</a:t>
            </a:r>
            <a:endParaRPr lang="en-US" sz="850"/>
          </a:p>
        </p:txBody>
      </p:sp>
      <p:graphicFrame>
        <p:nvGraphicFramePr>
          <p:cNvPr id="22" name="Table 0">
            <a:extLst>
              <a:ext uri="{FF2B5EF4-FFF2-40B4-BE49-F238E27FC236}">
                <a16:creationId xmlns:a16="http://schemas.microsoft.com/office/drawing/2014/main" id="{A4549E77-A2D6-61D1-584D-0478F444A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755582"/>
              </p:ext>
            </p:extLst>
          </p:nvPr>
        </p:nvGraphicFramePr>
        <p:xfrm>
          <a:off x="274320" y="1152144"/>
          <a:ext cx="8686800" cy="325374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CO-STERLING_DT-CO-STERLING_FG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Capital Tower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09/17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10/05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Samsung/ITW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FG: Samsung Combo CDs rejected 9/2, then ITW 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9/22/2026: Received the CDs from SS on 9/14 and submitt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21125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21125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211259"/>
                  </a:ext>
                </a:extLst>
              </a:tr>
            </a:tbl>
          </a:graphicData>
        </a:graphic>
      </p:graphicFrame>
      <p:sp>
        <p:nvSpPr>
          <p:cNvPr id="10" name="Shape 7">
            <a:extLst>
              <a:ext uri="{FF2B5EF4-FFF2-40B4-BE49-F238E27FC236}">
                <a16:creationId xmlns:a16="http://schemas.microsoft.com/office/drawing/2014/main" id="{DD5DFB78-28F6-B40B-7201-1617A04BA76B}"/>
              </a:ext>
            </a:extLst>
          </p:cNvPr>
          <p:cNvSpPr/>
          <p:nvPr/>
        </p:nvSpPr>
        <p:spPr>
          <a:xfrm>
            <a:off x="274320" y="3291840"/>
            <a:ext cx="8595360" cy="237744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F792902-35EA-854D-3FDF-B93A43FAD9D6}"/>
              </a:ext>
            </a:extLst>
          </p:cNvPr>
          <p:cNvSpPr/>
          <p:nvPr/>
        </p:nvSpPr>
        <p:spPr>
          <a:xfrm>
            <a:off x="384048" y="33192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Team Actions (0)</a:t>
            </a:r>
            <a:endParaRPr lang="en-US" sz="850"/>
          </a:p>
        </p:txBody>
      </p:sp>
      <p:graphicFrame>
        <p:nvGraphicFramePr>
          <p:cNvPr id="43" name="Table 1">
            <a:extLst>
              <a:ext uri="{FF2B5EF4-FFF2-40B4-BE49-F238E27FC236}">
                <a16:creationId xmlns:a16="http://schemas.microsoft.com/office/drawing/2014/main" id="{A6B1E41C-86E0-08BF-83B1-3F34E3BA2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374541"/>
              </p:ext>
            </p:extLst>
          </p:nvPr>
        </p:nvGraphicFramePr>
        <p:xfrm>
          <a:off x="274320" y="3547872"/>
          <a:ext cx="8686800" cy="1683258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2966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79077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2704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05172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64674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0801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49506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71587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86619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12297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27534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4892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0826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76995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8184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1305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15904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6675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7464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6359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17981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92615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943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320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62765-53EF-C88C-D503-A75C1CA87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1B643A-5AF0-3DC9-E2F7-F995409F5C5A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6CBA69-670C-4A6E-4233-82FE0441F083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Forecasted October POR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4F1646-444E-8C72-01A0-319EA5666F22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Plan of Record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4EA226-4CB5-21D9-0CA5-A06F23E9B1CF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7C1ADE2-BFA0-4D83-CB90-7D2E352B016A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E34BD6A-9820-437B-B5AA-4BA53357D19D}"/>
              </a:ext>
            </a:extLst>
          </p:cNvPr>
          <p:cNvSpPr/>
          <p:nvPr/>
        </p:nvSpPr>
        <p:spPr>
          <a:xfrm>
            <a:off x="274320" y="960120"/>
            <a:ext cx="2651760" cy="12344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2B16211-00C8-D993-3C8C-85ADDD3B905F}"/>
              </a:ext>
            </a:extLst>
          </p:cNvPr>
          <p:cNvSpPr/>
          <p:nvPr/>
        </p:nvSpPr>
        <p:spPr>
          <a:xfrm>
            <a:off x="2743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124191"/>
                </a:solidFill>
              </a:rPr>
              <a:t>25</a:t>
            </a:r>
            <a:endParaRPr lang="en-US" sz="3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2506533-D34C-AD36-039D-B28522A98F9A}"/>
              </a:ext>
            </a:extLst>
          </p:cNvPr>
          <p:cNvSpPr/>
          <p:nvPr/>
        </p:nvSpPr>
        <p:spPr>
          <a:xfrm>
            <a:off x="2743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POR HOPs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EA29567-4F32-3C58-DF65-FA0F7D7024FA}"/>
              </a:ext>
            </a:extLst>
          </p:cNvPr>
          <p:cNvSpPr/>
          <p:nvPr/>
        </p:nvSpPr>
        <p:spPr>
          <a:xfrm>
            <a:off x="3246120" y="960120"/>
            <a:ext cx="2651760" cy="1234440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F97FC4D-855B-4A85-686D-2F61D62D70BD}"/>
              </a:ext>
            </a:extLst>
          </p:cNvPr>
          <p:cNvSpPr/>
          <p:nvPr/>
        </p:nvSpPr>
        <p:spPr>
          <a:xfrm>
            <a:off x="32461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217346"/>
                </a:solidFill>
              </a:rPr>
              <a:t>10</a:t>
            </a:r>
            <a:endParaRPr lang="en-US" sz="3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960890D-7EEA-390A-A024-73A297367B1A}"/>
              </a:ext>
            </a:extLst>
          </p:cNvPr>
          <p:cNvSpPr/>
          <p:nvPr/>
        </p:nvSpPr>
        <p:spPr>
          <a:xfrm>
            <a:off x="32461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NTP</a:t>
            </a:r>
            <a:endParaRPr lang="en-US" sz="9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04BEAC4-E19C-FBB9-65B9-9881468A5651}"/>
              </a:ext>
            </a:extLst>
          </p:cNvPr>
          <p:cNvSpPr/>
          <p:nvPr/>
        </p:nvSpPr>
        <p:spPr>
          <a:xfrm>
            <a:off x="6217920" y="960120"/>
            <a:ext cx="2377440" cy="1234440"/>
          </a:xfrm>
          <a:prstGeom prst="rect">
            <a:avLst/>
          </a:prstGeom>
          <a:solidFill>
            <a:srgbClr val="FFF2CC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2F603D8-3DFB-D746-281D-21B4E5F4CF6C}"/>
              </a:ext>
            </a:extLst>
          </p:cNvPr>
          <p:cNvSpPr/>
          <p:nvPr/>
        </p:nvSpPr>
        <p:spPr>
          <a:xfrm>
            <a:off x="6217920" y="996696"/>
            <a:ext cx="237744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D4860A"/>
                </a:solidFill>
              </a:rPr>
              <a:t>15</a:t>
            </a:r>
            <a:endParaRPr lang="en-US" sz="3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FFB0BDE-5FEB-90E8-1586-C370A2A1CF68}"/>
              </a:ext>
            </a:extLst>
          </p:cNvPr>
          <p:cNvSpPr/>
          <p:nvPr/>
        </p:nvSpPr>
        <p:spPr>
          <a:xfrm>
            <a:off x="6217920" y="1700784"/>
            <a:ext cx="237744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NTP</a:t>
            </a:r>
            <a:endParaRPr lang="en-US" sz="9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F207B1D-516B-A67F-00EB-FF5F056D80FF}"/>
              </a:ext>
            </a:extLst>
          </p:cNvPr>
          <p:cNvSpPr/>
          <p:nvPr/>
        </p:nvSpPr>
        <p:spPr>
          <a:xfrm>
            <a:off x="274320" y="2331720"/>
            <a:ext cx="8595360" cy="310896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E6BA32C-6D15-55FE-AD5E-B1F51C6AD638}"/>
              </a:ext>
            </a:extLst>
          </p:cNvPr>
          <p:cNvSpPr/>
          <p:nvPr/>
        </p:nvSpPr>
        <p:spPr>
          <a:xfrm>
            <a:off x="411480" y="23682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POR</a:t>
            </a:r>
            <a:endParaRPr lang="en-US" sz="10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80ABB1F-B41D-D3C2-7FF0-4A179B2021AB}"/>
              </a:ext>
            </a:extLst>
          </p:cNvPr>
          <p:cNvSpPr/>
          <p:nvPr/>
        </p:nvSpPr>
        <p:spPr>
          <a:xfrm>
            <a:off x="27432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35548AD-DBD0-85E8-1B30-1F37E5474768}"/>
              </a:ext>
            </a:extLst>
          </p:cNvPr>
          <p:cNvSpPr/>
          <p:nvPr/>
        </p:nvSpPr>
        <p:spPr>
          <a:xfrm>
            <a:off x="274320" y="2697480"/>
            <a:ext cx="2743200" cy="18288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9E00739-73D1-8A33-EC40-93E561719C1C}"/>
              </a:ext>
            </a:extLst>
          </p:cNvPr>
          <p:cNvSpPr/>
          <p:nvPr/>
        </p:nvSpPr>
        <p:spPr>
          <a:xfrm>
            <a:off x="27432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10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B2F7B09-A69B-59E8-E693-39D650BCDFBF}"/>
              </a:ext>
            </a:extLst>
          </p:cNvPr>
          <p:cNvSpPr/>
          <p:nvPr/>
        </p:nvSpPr>
        <p:spPr>
          <a:xfrm>
            <a:off x="27432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- High Confidence</a:t>
            </a:r>
            <a:endParaRPr lang="en-US" sz="9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D3E35AF-197E-ED38-983B-76576DE83CFF}"/>
              </a:ext>
            </a:extLst>
          </p:cNvPr>
          <p:cNvSpPr/>
          <p:nvPr/>
        </p:nvSpPr>
        <p:spPr>
          <a:xfrm>
            <a:off x="315468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F591471-FDC0-0173-96EB-4121E81E1386}"/>
              </a:ext>
            </a:extLst>
          </p:cNvPr>
          <p:cNvSpPr/>
          <p:nvPr/>
        </p:nvSpPr>
        <p:spPr>
          <a:xfrm>
            <a:off x="3154680" y="2697480"/>
            <a:ext cx="2743200" cy="18288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5F7A72A-8AD5-1F9B-DE87-57E46D93BD74}"/>
              </a:ext>
            </a:extLst>
          </p:cNvPr>
          <p:cNvSpPr/>
          <p:nvPr/>
        </p:nvSpPr>
        <p:spPr>
          <a:xfrm>
            <a:off x="315468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4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9DD089F-B1EF-8989-E14F-0032675CB9A1}"/>
              </a:ext>
            </a:extLst>
          </p:cNvPr>
          <p:cNvSpPr/>
          <p:nvPr/>
        </p:nvSpPr>
        <p:spPr>
          <a:xfrm>
            <a:off x="315468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- Medium Risk</a:t>
            </a:r>
            <a:endParaRPr lang="en-US" sz="9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B99E550-D7FC-5200-09B0-1740BB161296}"/>
              </a:ext>
            </a:extLst>
          </p:cNvPr>
          <p:cNvSpPr/>
          <p:nvPr/>
        </p:nvSpPr>
        <p:spPr>
          <a:xfrm>
            <a:off x="603504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C1CAE89-4298-FE81-706C-3ED4DD880E4C}"/>
              </a:ext>
            </a:extLst>
          </p:cNvPr>
          <p:cNvSpPr/>
          <p:nvPr/>
        </p:nvSpPr>
        <p:spPr>
          <a:xfrm>
            <a:off x="6035040" y="2697480"/>
            <a:ext cx="2743200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C7BE64A-AE7E-501D-722B-F7054C9F9D00}"/>
              </a:ext>
            </a:extLst>
          </p:cNvPr>
          <p:cNvSpPr/>
          <p:nvPr/>
        </p:nvSpPr>
        <p:spPr>
          <a:xfrm>
            <a:off x="603504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11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4E61685-1129-F0A8-6E5A-CBC585BCC0FC}"/>
              </a:ext>
            </a:extLst>
          </p:cNvPr>
          <p:cNvSpPr/>
          <p:nvPr/>
        </p:nvSpPr>
        <p:spPr>
          <a:xfrm>
            <a:off x="603504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- High Risk</a:t>
            </a:r>
            <a:endParaRPr lang="en-US" sz="9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114BDDD-64EB-5477-BFCC-6A0329CD5BEB}"/>
              </a:ext>
            </a:extLst>
          </p:cNvPr>
          <p:cNvSpPr/>
          <p:nvPr/>
        </p:nvSpPr>
        <p:spPr>
          <a:xfrm>
            <a:off x="274320" y="3785616"/>
            <a:ext cx="8595360" cy="402336"/>
          </a:xfrm>
          <a:prstGeom prst="rect">
            <a:avLst/>
          </a:prstGeom>
          <a:solidFill>
            <a:srgbClr val="D6E4F5"/>
          </a:solidFill>
          <a:ln w="12700">
            <a:solidFill>
              <a:srgbClr val="CC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ECD7319-CD35-9BFD-64D5-A363DF83B28C}"/>
              </a:ext>
            </a:extLst>
          </p:cNvPr>
          <p:cNvSpPr/>
          <p:nvPr/>
        </p:nvSpPr>
        <p:spPr>
          <a:xfrm>
            <a:off x="411480" y="384962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/>
              <a:t>10 with NTP of 25 POR  ·  15 pending NTP</a:t>
            </a:r>
          </a:p>
        </p:txBody>
      </p:sp>
    </p:spTree>
    <p:extLst>
      <p:ext uri="{BB962C8B-B14F-4D97-AF65-F5344CB8AC3E}">
        <p14:creationId xmlns:p14="http://schemas.microsoft.com/office/powerpoint/2010/main" val="4226695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70FC8-F89D-0988-B4FF-2E45D53B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20F6C7-AAF8-D926-EB4C-1E335A4AA613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80DAE8-AB67-D55B-1B0A-EED93FC406E2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with NTP of 25 POR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789443-A0BE-6931-7A5E-937C9BCB98D1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POR with NTPs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033D62-8929-FE50-8D04-E6926E9BAAED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864ACB-8AFD-CEDC-7CCF-C7E23E3350CB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F3AD322D-1C29-7562-830B-249221AF849B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868680"/>
          <a:ext cx="9166860" cy="9448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745318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Mat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Status / Notes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NE-ALLIANCE_HOSP-NE-ALLIANCE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CJ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Tech CX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10/01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10/11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ITW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Hosp pending LL approval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NE-BROKEN_BOW_NW-NE-BROKEN_BOW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CJ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Tech CX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10/02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10/12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NTP Complete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CO-BLANCA_WEST-CO-ALAMOSA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Capital Tower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NE-CEDAR_BLUFF-KS-OBERLIN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Site Property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CO-MANZANOLA-CO-FOWLER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Capital Tower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10/08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10/18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CO-MOFFAT-CO-HOOPER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Tech CX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10/10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10/20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CO-CENTER-CO-SAGUACHE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Tech CX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10/11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10/21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CO-RUSH-CO-FOWLER_NORTH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Capital Tower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CO-SANFORD-CO-LA_JARA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Mastec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10/22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10/30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CO-MANZANOLA-CO-ROCKY_FORD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Ethos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10/24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11/03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4874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B50A0-971F-246A-38FB-7E3D6F4AF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6CE952-4882-F218-AEF8-EFDFE5B750EB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A1EFA2-063B-B1CE-FF32-E7FD3D18E655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of 25 pending NTP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A4BA03-F2B4-2A39-3292-927E33DDFB32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POR Pending NTPs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D99CEA-34E4-A9EE-5B3E-6DAB46560410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10216B3-F805-72FC-F850-41DC57AAEAA2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36F434A-0178-B106-07A3-7D9F67241FA1}"/>
              </a:ext>
            </a:extLst>
          </p:cNvPr>
          <p:cNvSpPr/>
          <p:nvPr/>
        </p:nvSpPr>
        <p:spPr>
          <a:xfrm>
            <a:off x="274320" y="886968"/>
            <a:ext cx="8595360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36B8ED-8FA8-D16B-5810-9035C6394A5E}"/>
              </a:ext>
            </a:extLst>
          </p:cNvPr>
          <p:cNvSpPr/>
          <p:nvPr/>
        </p:nvSpPr>
        <p:spPr>
          <a:xfrm>
            <a:off x="384048" y="9052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Blockers (11)  —  ITW · Samsung · Viaero</a:t>
            </a:r>
            <a:endParaRPr lang="en-US" sz="850"/>
          </a:p>
        </p:txBody>
      </p:sp>
      <p:graphicFrame>
        <p:nvGraphicFramePr>
          <p:cNvPr id="22" name="Table 0">
            <a:extLst>
              <a:ext uri="{FF2B5EF4-FFF2-40B4-BE49-F238E27FC236}">
                <a16:creationId xmlns:a16="http://schemas.microsoft.com/office/drawing/2014/main" id="{7EFA7DCD-7FD4-7548-7422-95323BC51AB7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1152144"/>
          <a:ext cx="8686800" cy="325374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NE-LEXINGTON_DT-NE-LEXINGTON_NORTH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Capital Tower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10/02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10/12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9/22/2026: Approved by Wes.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CO-MANZANOLA_DT-CO-MANZANOLA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Tech CX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10/06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10/16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9/28/2026: (CJ) Pulling in to beat SS.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WY-TORRINGTON_SOUTH-WY-TORRINGTON_DT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Mastec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10/08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10/18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ITW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DT - pending Vertical Bridge approval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9/22/2026: Still in review with VB.  | 9/8/2026: Still pe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CO-HUGHES-CO-KIRK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Capital Tower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10/10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10/20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Viaero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Pending service assignment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KS-GREAT_BEND_CENTRAL-KS-ELLINWOOD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WaveLink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10/11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10/21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Nokia &amp; Viaero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Pending LLD approval.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9/29/2026: (CJ) Per George -  This link we'll not get t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KS-ATWOOD-KS-MIDWAY_KS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Site Property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 &amp; Viaero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approval.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KS-MIDWAY_KS-KS-OBERLIN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Site Property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 &amp; Viaero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approval.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KS-PHILLIPSBURG-KS-WALNUT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Capital Tower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10/18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10/28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 &amp; Viaero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approval.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KS-PRAIRIE_VIEW-KS-PHILLIPSBURG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Capital Tower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10/21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10/31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 &amp; Viaero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approval.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CO-GRANGER-CO-HANNA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WaveLink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0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9/28/2026: (CJ) SS will be on Granger until 10/21st. Mo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21125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CO-CROOK-CO-SEDGWICK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Capital Tower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service assignment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211259"/>
                  </a:ext>
                </a:extLst>
              </a:tr>
            </a:tbl>
          </a:graphicData>
        </a:graphic>
      </p:graphicFrame>
      <p:sp>
        <p:nvSpPr>
          <p:cNvPr id="10" name="Shape 7">
            <a:extLst>
              <a:ext uri="{FF2B5EF4-FFF2-40B4-BE49-F238E27FC236}">
                <a16:creationId xmlns:a16="http://schemas.microsoft.com/office/drawing/2014/main" id="{6FF90929-2EE2-4B63-9735-FA5E427D95B0}"/>
              </a:ext>
            </a:extLst>
          </p:cNvPr>
          <p:cNvSpPr/>
          <p:nvPr/>
        </p:nvSpPr>
        <p:spPr>
          <a:xfrm>
            <a:off x="274320" y="3291840"/>
            <a:ext cx="8595360" cy="237744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069E34B-F86E-4A61-0927-DB5312185CD9}"/>
              </a:ext>
            </a:extLst>
          </p:cNvPr>
          <p:cNvSpPr/>
          <p:nvPr/>
        </p:nvSpPr>
        <p:spPr>
          <a:xfrm>
            <a:off x="384048" y="33192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Team Actions (4)</a:t>
            </a:r>
            <a:endParaRPr lang="en-US" sz="850"/>
          </a:p>
        </p:txBody>
      </p:sp>
      <p:graphicFrame>
        <p:nvGraphicFramePr>
          <p:cNvPr id="43" name="Table 1">
            <a:extLst>
              <a:ext uri="{FF2B5EF4-FFF2-40B4-BE49-F238E27FC236}">
                <a16:creationId xmlns:a16="http://schemas.microsoft.com/office/drawing/2014/main" id="{1CC7F4DE-9619-C094-EAEF-5029A3CA2C4E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3547872"/>
          <a:ext cx="8686800" cy="1683258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CO-TOBE_SW-CO-TREMENTINA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Tech CX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10/31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submittal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KS-HAYS_EAST-KS-HAYS_NW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WaveLink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10/31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submittal.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KS-BUNKER_HILL-KS-DORRANCE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Site Property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10/25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11/04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submittal.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KS-GOODLAND-KS-BREWSTER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Capital Tower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10/29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11/08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WP &amp; LLD submittal.  Pending ITW reso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2966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79077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2704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05172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64674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0801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49506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71587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86619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12297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27534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4892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0826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76995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8184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1305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15904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6675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7464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6359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17981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92615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943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7720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64DD7-8194-4128-1AEE-1BFD043E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EAC5A8-400B-5D37-8A7B-8F471CF0C7CE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F7E820-CD9B-2ECD-8D71-0639237BC811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Forecasted November POR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F692127-5CDB-5126-DD43-EB941E442B9E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Plan of Record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DE6FCC-92C5-954C-8F8E-BBF8E4A8ED82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D7FF876-2518-F949-4ACD-4EF9D75A437A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E4AE981-8C33-17F1-0743-6C041625B7B7}"/>
              </a:ext>
            </a:extLst>
          </p:cNvPr>
          <p:cNvSpPr/>
          <p:nvPr/>
        </p:nvSpPr>
        <p:spPr>
          <a:xfrm>
            <a:off x="274320" y="960120"/>
            <a:ext cx="2651760" cy="12344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E8A7F10-B1DA-2595-0E98-F51C50B4E4BB}"/>
              </a:ext>
            </a:extLst>
          </p:cNvPr>
          <p:cNvSpPr/>
          <p:nvPr/>
        </p:nvSpPr>
        <p:spPr>
          <a:xfrm>
            <a:off x="2743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124191"/>
                </a:solidFill>
              </a:rPr>
              <a:t>20</a:t>
            </a:r>
            <a:endParaRPr lang="en-US" sz="3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710E4C9-96F8-703E-78AF-192C7CEA601A}"/>
              </a:ext>
            </a:extLst>
          </p:cNvPr>
          <p:cNvSpPr/>
          <p:nvPr/>
        </p:nvSpPr>
        <p:spPr>
          <a:xfrm>
            <a:off x="2743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POR HOPs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DEFCF75-208D-BEC7-DC83-F0CB21F33171}"/>
              </a:ext>
            </a:extLst>
          </p:cNvPr>
          <p:cNvSpPr/>
          <p:nvPr/>
        </p:nvSpPr>
        <p:spPr>
          <a:xfrm>
            <a:off x="3246120" y="960120"/>
            <a:ext cx="2651760" cy="1234440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620CC26-AA46-C94B-2209-F91283B0A214}"/>
              </a:ext>
            </a:extLst>
          </p:cNvPr>
          <p:cNvSpPr/>
          <p:nvPr/>
        </p:nvSpPr>
        <p:spPr>
          <a:xfrm>
            <a:off x="32461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217346"/>
                </a:solidFill>
              </a:rPr>
              <a:t>5</a:t>
            </a:r>
            <a:endParaRPr lang="en-US" sz="3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2E8E128-3707-1AAB-7FF0-997A0A342D69}"/>
              </a:ext>
            </a:extLst>
          </p:cNvPr>
          <p:cNvSpPr/>
          <p:nvPr/>
        </p:nvSpPr>
        <p:spPr>
          <a:xfrm>
            <a:off x="32461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NTP</a:t>
            </a:r>
            <a:endParaRPr lang="en-US" sz="9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2EA62CA-3EE3-BA5F-4A3A-21033BDB4D1B}"/>
              </a:ext>
            </a:extLst>
          </p:cNvPr>
          <p:cNvSpPr/>
          <p:nvPr/>
        </p:nvSpPr>
        <p:spPr>
          <a:xfrm>
            <a:off x="6217920" y="960120"/>
            <a:ext cx="2377440" cy="1234440"/>
          </a:xfrm>
          <a:prstGeom prst="rect">
            <a:avLst/>
          </a:prstGeom>
          <a:solidFill>
            <a:srgbClr val="FFF2CC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C262B11-C375-02FE-5CA9-BCA3FA9607A0}"/>
              </a:ext>
            </a:extLst>
          </p:cNvPr>
          <p:cNvSpPr/>
          <p:nvPr/>
        </p:nvSpPr>
        <p:spPr>
          <a:xfrm>
            <a:off x="6217920" y="996696"/>
            <a:ext cx="237744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D4860A"/>
                </a:solidFill>
              </a:rPr>
              <a:t>15</a:t>
            </a:r>
            <a:endParaRPr lang="en-US" sz="3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85C21A0-C346-2C9E-838F-DF3A8480804C}"/>
              </a:ext>
            </a:extLst>
          </p:cNvPr>
          <p:cNvSpPr/>
          <p:nvPr/>
        </p:nvSpPr>
        <p:spPr>
          <a:xfrm>
            <a:off x="6217920" y="1700784"/>
            <a:ext cx="237744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NTP</a:t>
            </a:r>
            <a:endParaRPr lang="en-US" sz="9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CC3C1C4-9C2F-98D4-F2AF-CDE1BE5C2D00}"/>
              </a:ext>
            </a:extLst>
          </p:cNvPr>
          <p:cNvSpPr/>
          <p:nvPr/>
        </p:nvSpPr>
        <p:spPr>
          <a:xfrm>
            <a:off x="274320" y="2331720"/>
            <a:ext cx="8595360" cy="310896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ED68CB4-3ED7-CEB3-940E-969798EEAFFC}"/>
              </a:ext>
            </a:extLst>
          </p:cNvPr>
          <p:cNvSpPr/>
          <p:nvPr/>
        </p:nvSpPr>
        <p:spPr>
          <a:xfrm>
            <a:off x="411480" y="23682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POR</a:t>
            </a:r>
            <a:endParaRPr lang="en-US" sz="10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6C76BB6-9977-8CAB-B4CE-A332C1848AB1}"/>
              </a:ext>
            </a:extLst>
          </p:cNvPr>
          <p:cNvSpPr/>
          <p:nvPr/>
        </p:nvSpPr>
        <p:spPr>
          <a:xfrm>
            <a:off x="27432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1EF6C3D-3CE1-A9E1-E443-3A222426FF87}"/>
              </a:ext>
            </a:extLst>
          </p:cNvPr>
          <p:cNvSpPr/>
          <p:nvPr/>
        </p:nvSpPr>
        <p:spPr>
          <a:xfrm>
            <a:off x="274320" y="2697480"/>
            <a:ext cx="2743200" cy="18288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37DCD80-D766-E3CA-5288-28F93BB48A83}"/>
              </a:ext>
            </a:extLst>
          </p:cNvPr>
          <p:cNvSpPr/>
          <p:nvPr/>
        </p:nvSpPr>
        <p:spPr>
          <a:xfrm>
            <a:off x="27432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5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CBF5300-A170-2C05-B896-9FAADAF272AB}"/>
              </a:ext>
            </a:extLst>
          </p:cNvPr>
          <p:cNvSpPr/>
          <p:nvPr/>
        </p:nvSpPr>
        <p:spPr>
          <a:xfrm>
            <a:off x="27432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- High Confidence</a:t>
            </a:r>
            <a:endParaRPr lang="en-US" sz="9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06DD557-1030-6E28-EC60-976403FC497D}"/>
              </a:ext>
            </a:extLst>
          </p:cNvPr>
          <p:cNvSpPr/>
          <p:nvPr/>
        </p:nvSpPr>
        <p:spPr>
          <a:xfrm>
            <a:off x="315468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5151C20-CA14-7C02-6C57-DD9FB8E8C59E}"/>
              </a:ext>
            </a:extLst>
          </p:cNvPr>
          <p:cNvSpPr/>
          <p:nvPr/>
        </p:nvSpPr>
        <p:spPr>
          <a:xfrm>
            <a:off x="3154680" y="2697480"/>
            <a:ext cx="2743200" cy="18288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154CC4E-F9CF-3B55-E652-4424B8757B0D}"/>
              </a:ext>
            </a:extLst>
          </p:cNvPr>
          <p:cNvSpPr/>
          <p:nvPr/>
        </p:nvSpPr>
        <p:spPr>
          <a:xfrm>
            <a:off x="315468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6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CAEC462-E19E-0091-0EA8-652B5A9634CC}"/>
              </a:ext>
            </a:extLst>
          </p:cNvPr>
          <p:cNvSpPr/>
          <p:nvPr/>
        </p:nvSpPr>
        <p:spPr>
          <a:xfrm>
            <a:off x="315468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- Medium Risk</a:t>
            </a:r>
            <a:endParaRPr lang="en-US" sz="9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83F3AA7-8776-55BD-3C4B-880E4E847213}"/>
              </a:ext>
            </a:extLst>
          </p:cNvPr>
          <p:cNvSpPr/>
          <p:nvPr/>
        </p:nvSpPr>
        <p:spPr>
          <a:xfrm>
            <a:off x="603504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8D07136-E123-BA62-9CF4-03D1DCEAB0D6}"/>
              </a:ext>
            </a:extLst>
          </p:cNvPr>
          <p:cNvSpPr/>
          <p:nvPr/>
        </p:nvSpPr>
        <p:spPr>
          <a:xfrm>
            <a:off x="6035040" y="2697480"/>
            <a:ext cx="2743200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AC6D1FC-9987-B975-066D-B90216E99835}"/>
              </a:ext>
            </a:extLst>
          </p:cNvPr>
          <p:cNvSpPr/>
          <p:nvPr/>
        </p:nvSpPr>
        <p:spPr>
          <a:xfrm>
            <a:off x="603504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9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7622967-D9DE-C0BF-37A6-74F249C6A419}"/>
              </a:ext>
            </a:extLst>
          </p:cNvPr>
          <p:cNvSpPr/>
          <p:nvPr/>
        </p:nvSpPr>
        <p:spPr>
          <a:xfrm>
            <a:off x="603504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- High Risk</a:t>
            </a:r>
            <a:endParaRPr lang="en-US" sz="9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E05A86A-BE4B-DA29-4BD7-60DD8ED248D7}"/>
              </a:ext>
            </a:extLst>
          </p:cNvPr>
          <p:cNvSpPr/>
          <p:nvPr/>
        </p:nvSpPr>
        <p:spPr>
          <a:xfrm>
            <a:off x="274320" y="3785616"/>
            <a:ext cx="8595360" cy="402336"/>
          </a:xfrm>
          <a:prstGeom prst="rect">
            <a:avLst/>
          </a:prstGeom>
          <a:solidFill>
            <a:srgbClr val="D6E4F5"/>
          </a:solidFill>
          <a:ln w="12700">
            <a:solidFill>
              <a:srgbClr val="CC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D355B82-B676-FD38-BD73-0A8869B6C13F}"/>
              </a:ext>
            </a:extLst>
          </p:cNvPr>
          <p:cNvSpPr/>
          <p:nvPr/>
        </p:nvSpPr>
        <p:spPr>
          <a:xfrm>
            <a:off x="411480" y="384962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/>
              <a:t>5 with NTP of 20 POR  ·  15 pending NTP</a:t>
            </a:r>
          </a:p>
        </p:txBody>
      </p:sp>
    </p:spTree>
    <p:extLst>
      <p:ext uri="{BB962C8B-B14F-4D97-AF65-F5344CB8AC3E}">
        <p14:creationId xmlns:p14="http://schemas.microsoft.com/office/powerpoint/2010/main" val="2422860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7CACE-207D-E1B6-4DCA-FDAEEFF5F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7F6AE4-BFA8-630D-167E-4D781A300DF9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A9D9DD-7AAD-C01F-B377-10AA610FB740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with NTP of 20 POR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26053E-B5CE-6EB0-50FF-B73771489906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POR with NTPs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B891598-0773-AA12-16D9-F2B6F7E8064B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EA3A8A-863B-8545-A88D-77F2E3F14E98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22FD7B3B-FC8C-F668-B7BC-FDCC42F47081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868680"/>
          <a:ext cx="9166860" cy="9448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745318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Mat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Status / Notes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CO-MONTE_VISTA-CO-CENTER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Tech CX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CO-TOWNER_DT-CO-TOWNER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CJ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Ethos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11/05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11/15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NTP Complete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CO-ABBEY-CO-HOGBACK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Mastec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11/09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11/17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CO-DEL_NORTE-CO-MONTE_VISTA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Tech CX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CO-DEL_NORTE-CO-HANNA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CJ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Ethos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8685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FE35-6F63-26E1-7E6A-D894D02AB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CB6030-CE23-EE8C-59F3-B46FF8000482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E5E160-22BA-7A29-4054-692185279E09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of 20 pending NTP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4A6021-309D-95FC-2B3A-56CAA4043B19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POR Pending NTPs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6251E1-B4BD-2A0E-68AF-5E67992FF2C7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407987-9903-0B57-5A63-B38245A3CC85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5921004-1009-9EF2-BC28-F0193B50CE4B}"/>
              </a:ext>
            </a:extLst>
          </p:cNvPr>
          <p:cNvSpPr/>
          <p:nvPr/>
        </p:nvSpPr>
        <p:spPr>
          <a:xfrm>
            <a:off x="274320" y="886968"/>
            <a:ext cx="8595360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F774A3B-F346-43CA-8A78-049E53B0CBF4}"/>
              </a:ext>
            </a:extLst>
          </p:cNvPr>
          <p:cNvSpPr/>
          <p:nvPr/>
        </p:nvSpPr>
        <p:spPr>
          <a:xfrm>
            <a:off x="384048" y="9052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Blockers (9)  —  ITW · Samsung · Viaero</a:t>
            </a:r>
            <a:endParaRPr lang="en-US" sz="850"/>
          </a:p>
        </p:txBody>
      </p:sp>
      <p:graphicFrame>
        <p:nvGraphicFramePr>
          <p:cNvPr id="22" name="Table 0">
            <a:extLst>
              <a:ext uri="{FF2B5EF4-FFF2-40B4-BE49-F238E27FC236}">
                <a16:creationId xmlns:a16="http://schemas.microsoft.com/office/drawing/2014/main" id="{C9C387CD-FA18-DC0A-62F8-39A43869402B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1152144"/>
          <a:ext cx="8686800" cy="325374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CO-FARISITA-CO-STRONG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Tech CX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service quote submittal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7/3: PRIORITIZE- both sites are mountain sites with dif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CO-MONTE_VISTA_COOP-CO-MONTE_VISTA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Tech CX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approval.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CO-ALAMOSA_SW-CO-ALAMOSA_SALES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Capital Tower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Ready for NTP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9/22/2026: Dalla will issue.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CO-PROSPECT_EAST-CO-HOYT_NORTH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Capital Tower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11/03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11/13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Viaero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pending WP approval &amp; LLD approval on one sit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7/8: per Don's email, P4G3 – Site moved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KS-CLAFLIN-KS-HOLYROOD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Site Property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11/04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11/14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Nokia &amp; ITW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pending LLD submittal.  Pending ITW resolutio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KS-GOODLAND-KS-GOODLAND_DT_NORTH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Capital Tower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11/06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11/16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 &amp; 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approval.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KS-WAKEENEY-KS-QUINTER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Mastec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11/10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11/18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NTP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KS-WAKEENEY-KS-ELLIS_NORTH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Mastec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11/18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NTP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CO-CENTER_NORTH-CO-CENTER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Tech CX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11/21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11/30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Ready for NTP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9/22/2026: Dallas will issue. | 9/8/2026: Dallas issuing.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211259"/>
                  </a:ext>
                </a:extLst>
              </a:tr>
            </a:tbl>
          </a:graphicData>
        </a:graphic>
      </p:graphicFrame>
      <p:sp>
        <p:nvSpPr>
          <p:cNvPr id="10" name="Shape 7">
            <a:extLst>
              <a:ext uri="{FF2B5EF4-FFF2-40B4-BE49-F238E27FC236}">
                <a16:creationId xmlns:a16="http://schemas.microsoft.com/office/drawing/2014/main" id="{040C8527-B852-AA2A-3ACD-3CCBD56BB237}"/>
              </a:ext>
            </a:extLst>
          </p:cNvPr>
          <p:cNvSpPr/>
          <p:nvPr/>
        </p:nvSpPr>
        <p:spPr>
          <a:xfrm>
            <a:off x="274320" y="3291840"/>
            <a:ext cx="8595360" cy="237744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A714D6B-E559-866A-75C3-E8FBDE516CFB}"/>
              </a:ext>
            </a:extLst>
          </p:cNvPr>
          <p:cNvSpPr/>
          <p:nvPr/>
        </p:nvSpPr>
        <p:spPr>
          <a:xfrm>
            <a:off x="384048" y="33192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Team Actions (6)</a:t>
            </a:r>
            <a:endParaRPr lang="en-US" sz="850"/>
          </a:p>
        </p:txBody>
      </p:sp>
      <p:graphicFrame>
        <p:nvGraphicFramePr>
          <p:cNvPr id="43" name="Table 1">
            <a:extLst>
              <a:ext uri="{FF2B5EF4-FFF2-40B4-BE49-F238E27FC236}">
                <a16:creationId xmlns:a16="http://schemas.microsoft.com/office/drawing/2014/main" id="{43173A66-EA00-7A47-0B81-4BD214456525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3547872"/>
          <a:ext cx="8686800" cy="1683258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CO-FM_OFFICE-CO-FM_HOSP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Capital Tower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11/08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11/18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CO-FARISITA-CO-GARDNER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Tech CX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submittal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7/3: PRIORITIZE- both sites are mountain sites with dif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CO-JULESBURG_COURTHOUSE-CO-JULESBURG_DT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Site Property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11/14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11/24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submittal.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6/16: cxld per 6/12 red flag report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CO-MONTE_VISTA_EAST-CO-MONTE_VISTA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Tech CX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11/16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11/26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NTP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7/23: Ethos doing RAN for SS at East</a:t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KS-GRAINFIELD-KS-QUINTER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Mastec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11/18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11/26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WP &amp; LLD submittal.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CO-MONTE_VISTA_SW-CO-MONTE_VISTA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Tech CX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11/30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NTP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2966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79077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2704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05172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64674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0801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49506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71587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86619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12297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27534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4892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0826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76995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8184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1305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15904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6675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7464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6359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17981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92615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943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82123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0DE95-D724-2B1B-ADFE-B80B21EF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F10E40-2E63-D0B8-AEFB-DCA2AB752073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C78BE0-9347-D4A1-51A8-37CEA1B15226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Forecasted December POR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F746294-9091-7F4F-227C-A9932EC3122E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Plan of Record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B4E209E-4EC3-75A0-0540-813311DFECD4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B618E0D-4B54-63CA-64A8-7C5C6F27F426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2271A98-4411-6751-C164-323C02874222}"/>
              </a:ext>
            </a:extLst>
          </p:cNvPr>
          <p:cNvSpPr/>
          <p:nvPr/>
        </p:nvSpPr>
        <p:spPr>
          <a:xfrm>
            <a:off x="274320" y="960120"/>
            <a:ext cx="2651760" cy="12344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75BA226-2BF4-7573-C8EB-0216B3A5ED66}"/>
              </a:ext>
            </a:extLst>
          </p:cNvPr>
          <p:cNvSpPr/>
          <p:nvPr/>
        </p:nvSpPr>
        <p:spPr>
          <a:xfrm>
            <a:off x="2743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124191"/>
                </a:solidFill>
              </a:rPr>
              <a:t>0</a:t>
            </a:r>
            <a:endParaRPr lang="en-US" sz="3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51EAD70-4897-9F69-6FDF-43C7AC2E869E}"/>
              </a:ext>
            </a:extLst>
          </p:cNvPr>
          <p:cNvSpPr/>
          <p:nvPr/>
        </p:nvSpPr>
        <p:spPr>
          <a:xfrm>
            <a:off x="2743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POR HOPs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7D15E8B-141B-EFA0-6DC9-014F68CD8AF7}"/>
              </a:ext>
            </a:extLst>
          </p:cNvPr>
          <p:cNvSpPr/>
          <p:nvPr/>
        </p:nvSpPr>
        <p:spPr>
          <a:xfrm>
            <a:off x="3246120" y="960120"/>
            <a:ext cx="2651760" cy="1234440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5CBBDB5-2ED9-216C-F2F2-5A38D94CD5EB}"/>
              </a:ext>
            </a:extLst>
          </p:cNvPr>
          <p:cNvSpPr/>
          <p:nvPr/>
        </p:nvSpPr>
        <p:spPr>
          <a:xfrm>
            <a:off x="32461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217346"/>
                </a:solidFill>
              </a:rPr>
              <a:t>0</a:t>
            </a:r>
            <a:endParaRPr lang="en-US" sz="3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F567B4D-A60D-89FD-EFF2-DFEA269672CF}"/>
              </a:ext>
            </a:extLst>
          </p:cNvPr>
          <p:cNvSpPr/>
          <p:nvPr/>
        </p:nvSpPr>
        <p:spPr>
          <a:xfrm>
            <a:off x="32461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NTP</a:t>
            </a:r>
            <a:endParaRPr lang="en-US" sz="9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F78E5E2-D26A-262B-F3E9-0642C8D1413D}"/>
              </a:ext>
            </a:extLst>
          </p:cNvPr>
          <p:cNvSpPr/>
          <p:nvPr/>
        </p:nvSpPr>
        <p:spPr>
          <a:xfrm>
            <a:off x="6217920" y="960120"/>
            <a:ext cx="2377440" cy="1234440"/>
          </a:xfrm>
          <a:prstGeom prst="rect">
            <a:avLst/>
          </a:prstGeom>
          <a:solidFill>
            <a:srgbClr val="FFF2CC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A8FEFE5-711D-73BF-AB2F-7CAF77D710CF}"/>
              </a:ext>
            </a:extLst>
          </p:cNvPr>
          <p:cNvSpPr/>
          <p:nvPr/>
        </p:nvSpPr>
        <p:spPr>
          <a:xfrm>
            <a:off x="6217920" y="996696"/>
            <a:ext cx="237744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D4860A"/>
                </a:solidFill>
              </a:rPr>
              <a:t>0</a:t>
            </a:r>
            <a:endParaRPr lang="en-US" sz="3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C635F7D-67AF-FA29-089F-03CEDCAFB1A1}"/>
              </a:ext>
            </a:extLst>
          </p:cNvPr>
          <p:cNvSpPr/>
          <p:nvPr/>
        </p:nvSpPr>
        <p:spPr>
          <a:xfrm>
            <a:off x="6217920" y="1700784"/>
            <a:ext cx="237744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NTP</a:t>
            </a:r>
            <a:endParaRPr lang="en-US" sz="9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D675600-20A5-ADDD-515D-F87E14BCE29B}"/>
              </a:ext>
            </a:extLst>
          </p:cNvPr>
          <p:cNvSpPr/>
          <p:nvPr/>
        </p:nvSpPr>
        <p:spPr>
          <a:xfrm>
            <a:off x="274320" y="2331720"/>
            <a:ext cx="8595360" cy="310896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3B11F4D-92B7-2663-0BE4-FDB29604C7FE}"/>
              </a:ext>
            </a:extLst>
          </p:cNvPr>
          <p:cNvSpPr/>
          <p:nvPr/>
        </p:nvSpPr>
        <p:spPr>
          <a:xfrm>
            <a:off x="411480" y="23682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POR</a:t>
            </a:r>
            <a:endParaRPr lang="en-US" sz="10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17C0B69-355A-ABA6-272A-260706F9E11E}"/>
              </a:ext>
            </a:extLst>
          </p:cNvPr>
          <p:cNvSpPr/>
          <p:nvPr/>
        </p:nvSpPr>
        <p:spPr>
          <a:xfrm>
            <a:off x="27432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6FA4A06-C223-0947-AEF9-2710B2945A84}"/>
              </a:ext>
            </a:extLst>
          </p:cNvPr>
          <p:cNvSpPr/>
          <p:nvPr/>
        </p:nvSpPr>
        <p:spPr>
          <a:xfrm>
            <a:off x="274320" y="2697480"/>
            <a:ext cx="2743200" cy="18288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3BBBCDF-37CA-4BF5-7770-B1836ED2E9B2}"/>
              </a:ext>
            </a:extLst>
          </p:cNvPr>
          <p:cNvSpPr/>
          <p:nvPr/>
        </p:nvSpPr>
        <p:spPr>
          <a:xfrm>
            <a:off x="27432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0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AFC04D3-3F39-A8F3-D003-8C3CB9057B64}"/>
              </a:ext>
            </a:extLst>
          </p:cNvPr>
          <p:cNvSpPr/>
          <p:nvPr/>
        </p:nvSpPr>
        <p:spPr>
          <a:xfrm>
            <a:off x="27432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- High Confidence</a:t>
            </a:r>
            <a:endParaRPr lang="en-US" sz="9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5C6F82C-39BF-5088-2103-8BB0A9313850}"/>
              </a:ext>
            </a:extLst>
          </p:cNvPr>
          <p:cNvSpPr/>
          <p:nvPr/>
        </p:nvSpPr>
        <p:spPr>
          <a:xfrm>
            <a:off x="315468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3EC7650-D35C-DB33-8704-2B2C98CEAF07}"/>
              </a:ext>
            </a:extLst>
          </p:cNvPr>
          <p:cNvSpPr/>
          <p:nvPr/>
        </p:nvSpPr>
        <p:spPr>
          <a:xfrm>
            <a:off x="3154680" y="2697480"/>
            <a:ext cx="2743200" cy="18288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7DEE8EB-DA78-EA5A-23D1-C221E4D71410}"/>
              </a:ext>
            </a:extLst>
          </p:cNvPr>
          <p:cNvSpPr/>
          <p:nvPr/>
        </p:nvSpPr>
        <p:spPr>
          <a:xfrm>
            <a:off x="315468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0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EF59CD4-3CE4-1BD4-1346-FC1E4CC10CFF}"/>
              </a:ext>
            </a:extLst>
          </p:cNvPr>
          <p:cNvSpPr/>
          <p:nvPr/>
        </p:nvSpPr>
        <p:spPr>
          <a:xfrm>
            <a:off x="315468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- Medium Risk</a:t>
            </a:r>
            <a:endParaRPr lang="en-US" sz="9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ADAC6B9-A202-CBD3-96E8-4C008DD2CCD9}"/>
              </a:ext>
            </a:extLst>
          </p:cNvPr>
          <p:cNvSpPr/>
          <p:nvPr/>
        </p:nvSpPr>
        <p:spPr>
          <a:xfrm>
            <a:off x="603504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6C8BBB2-998B-B2D7-2B6E-E803CC0CE04A}"/>
              </a:ext>
            </a:extLst>
          </p:cNvPr>
          <p:cNvSpPr/>
          <p:nvPr/>
        </p:nvSpPr>
        <p:spPr>
          <a:xfrm>
            <a:off x="6035040" y="2697480"/>
            <a:ext cx="2743200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9637584-4302-E16E-7012-A8EDFB02DA96}"/>
              </a:ext>
            </a:extLst>
          </p:cNvPr>
          <p:cNvSpPr/>
          <p:nvPr/>
        </p:nvSpPr>
        <p:spPr>
          <a:xfrm>
            <a:off x="603504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0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71C344F-678C-5F10-97A6-0AC4921E312C}"/>
              </a:ext>
            </a:extLst>
          </p:cNvPr>
          <p:cNvSpPr/>
          <p:nvPr/>
        </p:nvSpPr>
        <p:spPr>
          <a:xfrm>
            <a:off x="603504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- High Risk</a:t>
            </a:r>
            <a:endParaRPr lang="en-US" sz="9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57F8779-3BC4-D8B4-BEE5-F4638E1C3858}"/>
              </a:ext>
            </a:extLst>
          </p:cNvPr>
          <p:cNvSpPr/>
          <p:nvPr/>
        </p:nvSpPr>
        <p:spPr>
          <a:xfrm>
            <a:off x="274320" y="3785616"/>
            <a:ext cx="8595360" cy="402336"/>
          </a:xfrm>
          <a:prstGeom prst="rect">
            <a:avLst/>
          </a:prstGeom>
          <a:solidFill>
            <a:srgbClr val="D6E4F5"/>
          </a:solidFill>
          <a:ln w="12700">
            <a:solidFill>
              <a:srgbClr val="CC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FE7C52A-6202-BA35-9D57-3C20B74C6574}"/>
              </a:ext>
            </a:extLst>
          </p:cNvPr>
          <p:cNvSpPr/>
          <p:nvPr/>
        </p:nvSpPr>
        <p:spPr>
          <a:xfrm>
            <a:off x="411480" y="384962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/>
              <a:t>0 with NTP of 0 POR  ·  0 pending NTP</a:t>
            </a:r>
          </a:p>
        </p:txBody>
      </p:sp>
    </p:spTree>
    <p:extLst>
      <p:ext uri="{BB962C8B-B14F-4D97-AF65-F5344CB8AC3E}">
        <p14:creationId xmlns:p14="http://schemas.microsoft.com/office/powerpoint/2010/main" val="1955402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998F3-3FBF-2EE5-A106-F956A96B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FEAD07-0116-C59A-97E7-AD1C9CE6D9A2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74C7B7-8046-9CB8-FAFB-887F485280F2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with NTP of 0 POR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BA4BC6-8F07-CCA9-81EB-B01BBFC746FE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POR with NTPs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BFF2118-8D4C-2DC0-B546-A1567A42CF47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102FB5A-DDBC-4576-C0B7-B866E5303C2A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E16065D0-B8A5-6F77-CA33-256A0A4C60D4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868680"/>
          <a:ext cx="9166860" cy="9448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745318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Mat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Status / Notes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/>
                        <a:t/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4029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97B5B-48D4-81AC-641A-914065D30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86C436-494D-8CF0-093E-34757FE92430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5F201D-5AC4-A0EC-6546-755F362034B9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0 pending NTP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C62C4E4-9F77-7386-3844-94BB5AA72CFA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POR Pending NTPs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6414936-6512-4B1F-88E2-79C49798BF56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B9D5BD5-817A-34F7-2E58-A24471ABE98E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DACF226-1888-5D1D-8C43-CE200323AF48}"/>
              </a:ext>
            </a:extLst>
          </p:cNvPr>
          <p:cNvSpPr/>
          <p:nvPr/>
        </p:nvSpPr>
        <p:spPr>
          <a:xfrm>
            <a:off x="274320" y="886968"/>
            <a:ext cx="8595360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3F8CF38-B48F-407A-9E28-E52C39665B95}"/>
              </a:ext>
            </a:extLst>
          </p:cNvPr>
          <p:cNvSpPr/>
          <p:nvPr/>
        </p:nvSpPr>
        <p:spPr>
          <a:xfrm>
            <a:off x="384048" y="9052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Blockers (0)  —  ITW · Samsung · Viaero</a:t>
            </a:r>
            <a:endParaRPr lang="en-US" sz="850"/>
          </a:p>
        </p:txBody>
      </p:sp>
      <p:graphicFrame>
        <p:nvGraphicFramePr>
          <p:cNvPr id="22" name="Table 0">
            <a:extLst>
              <a:ext uri="{FF2B5EF4-FFF2-40B4-BE49-F238E27FC236}">
                <a16:creationId xmlns:a16="http://schemas.microsoft.com/office/drawing/2014/main" id="{F9695DEA-3F79-4F99-15B0-227299FEC966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1152144"/>
          <a:ext cx="8686800" cy="325374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211259"/>
                  </a:ext>
                </a:extLst>
              </a:tr>
            </a:tbl>
          </a:graphicData>
        </a:graphic>
      </p:graphicFrame>
      <p:sp>
        <p:nvSpPr>
          <p:cNvPr id="10" name="Shape 7">
            <a:extLst>
              <a:ext uri="{FF2B5EF4-FFF2-40B4-BE49-F238E27FC236}">
                <a16:creationId xmlns:a16="http://schemas.microsoft.com/office/drawing/2014/main" id="{5FDF33CE-9B2B-0B27-1F10-3E64F9E3EE5D}"/>
              </a:ext>
            </a:extLst>
          </p:cNvPr>
          <p:cNvSpPr/>
          <p:nvPr/>
        </p:nvSpPr>
        <p:spPr>
          <a:xfrm>
            <a:off x="274320" y="3291840"/>
            <a:ext cx="8595360" cy="237744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2882005-C2C9-790D-8903-877E7644385E}"/>
              </a:ext>
            </a:extLst>
          </p:cNvPr>
          <p:cNvSpPr/>
          <p:nvPr/>
        </p:nvSpPr>
        <p:spPr>
          <a:xfrm>
            <a:off x="384048" y="33192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Team Actions (0)</a:t>
            </a:r>
            <a:endParaRPr lang="en-US" sz="850"/>
          </a:p>
        </p:txBody>
      </p:sp>
      <p:graphicFrame>
        <p:nvGraphicFramePr>
          <p:cNvPr id="43" name="Table 1">
            <a:extLst>
              <a:ext uri="{FF2B5EF4-FFF2-40B4-BE49-F238E27FC236}">
                <a16:creationId xmlns:a16="http://schemas.microsoft.com/office/drawing/2014/main" id="{066E07A3-A12D-A02A-DB80-4F5FD77407A1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3547872"/>
          <a:ext cx="8686800" cy="1683258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2966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79077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2704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/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05172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64674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0801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49506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71587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86619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12297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27534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4892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0826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76995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8184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1305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15904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6675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74649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6359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17981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92615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/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/>
                      </a: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943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5341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Log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212451"/>
              </p:ext>
            </p:extLst>
          </p:nvPr>
        </p:nvGraphicFramePr>
        <p:xfrm>
          <a:off x="365760" y="914400"/>
          <a:ext cx="8412480" cy="416052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Item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523744"/>
            <a:ext cx="9144000" cy="73152"/>
          </a:xfrm>
          <a:prstGeom prst="rect">
            <a:avLst/>
          </a:prstGeom>
          <a:solidFill>
            <a:srgbClr val="00A0B0"/>
          </a:solidFill>
          <a:ln w="12700">
            <a:solidFill>
              <a:srgbClr val="00A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Presentation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48640" y="226771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Viaero Wireless  ·  Nokia Program Team  ·  Questions Welcome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91" y="0"/>
            <a:ext cx="9141714" cy="493776"/>
          </a:xfrm>
          <a:prstGeom prst="rect">
            <a:avLst/>
          </a:prstGeom>
          <a:solidFill>
            <a:srgbClr val="12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86916" y="54864"/>
            <a:ext cx="8867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On Air Acceptance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303" y="342065"/>
            <a:ext cx="8867394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FFFFFF"/>
                </a:solidFill>
                <a:latin typeface="Calibri"/>
              </a:rPr>
              <a:t>Filter: On Air = YES  ·  82 HOPs  ·  June 18,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931" y="562356"/>
            <a:ext cx="8730234" cy="219456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155496" y="504120"/>
            <a:ext cx="87302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42 of 82 On Air HOPs Fully Accepted  ·  40 Remaining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06931" y="836676"/>
            <a:ext cx="8730234" cy="1920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ectangle 8"/>
          <p:cNvSpPr/>
          <p:nvPr/>
        </p:nvSpPr>
        <p:spPr>
          <a:xfrm>
            <a:off x="206932" y="836676"/>
            <a:ext cx="4471583" cy="192024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Rectangle 9"/>
          <p:cNvSpPr/>
          <p:nvPr/>
        </p:nvSpPr>
        <p:spPr>
          <a:xfrm>
            <a:off x="4678515" y="836676"/>
            <a:ext cx="2022859" cy="192024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6701374" y="836676"/>
            <a:ext cx="1809926" cy="19202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Rectangle 11"/>
          <p:cNvSpPr/>
          <p:nvPr/>
        </p:nvSpPr>
        <p:spPr>
          <a:xfrm>
            <a:off x="8511300" y="836676"/>
            <a:ext cx="106466" cy="1920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206931" y="836676"/>
            <a:ext cx="8730234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FFFFF"/>
                </a:solidFill>
                <a:latin typeface="Calibri"/>
              </a:rPr>
              <a:t>  ✅ Accepted: 42   |   🔵 Nokia Submitting: 19   |   ⚠️ Viaero Review: 17   |   🔴 Rejected: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7263" y="1083564"/>
            <a:ext cx="1920240" cy="617220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577263" y="1110996"/>
            <a:ext cx="1920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263" y="1440180"/>
            <a:ext cx="192024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✅ Accepted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263" y="1591056"/>
            <a:ext cx="1920240" cy="173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5" i="1">
                <a:solidFill>
                  <a:srgbClr val="FFFFFF"/>
                </a:solidFill>
                <a:latin typeface="Calibri"/>
              </a:rPr>
              <a:t>Invoice closed — fully accepted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0373" y="1083564"/>
            <a:ext cx="1920240" cy="61722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TextBox 18"/>
          <p:cNvSpPr txBox="1"/>
          <p:nvPr/>
        </p:nvSpPr>
        <p:spPr>
          <a:xfrm>
            <a:off x="2600373" y="1110996"/>
            <a:ext cx="1920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0373" y="1440181"/>
            <a:ext cx="1920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🔵 Nokia
Submitting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0373" y="1591056"/>
            <a:ext cx="1920240" cy="173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5" i="1">
                <a:solidFill>
                  <a:srgbClr val="FFFFFF"/>
                </a:solidFill>
                <a:latin typeface="Calibri"/>
              </a:rPr>
              <a:t>Nokia preparing docs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23483" y="1083564"/>
            <a:ext cx="1920240" cy="6172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TextBox 22"/>
          <p:cNvSpPr txBox="1"/>
          <p:nvPr/>
        </p:nvSpPr>
        <p:spPr>
          <a:xfrm>
            <a:off x="4623483" y="1110996"/>
            <a:ext cx="1920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3483" y="1440181"/>
            <a:ext cx="1920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⚠️ Viaero
To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3483" y="1591056"/>
            <a:ext cx="1920240" cy="173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5" i="1">
                <a:solidFill>
                  <a:srgbClr val="FFFFFF"/>
                </a:solidFill>
                <a:latin typeface="Calibri"/>
              </a:rPr>
              <a:t>Submitted — awaiting acceptance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6593" y="1083564"/>
            <a:ext cx="1920240" cy="6172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TextBox 26"/>
          <p:cNvSpPr txBox="1"/>
          <p:nvPr/>
        </p:nvSpPr>
        <p:spPr>
          <a:xfrm>
            <a:off x="6646593" y="1110996"/>
            <a:ext cx="1920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6593" y="1440180"/>
            <a:ext cx="192024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🔴 Rejected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6593" y="1591056"/>
            <a:ext cx="1920240" cy="173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5" i="1">
                <a:solidFill>
                  <a:srgbClr val="FFFFFF"/>
                </a:solidFill>
                <a:latin typeface="Calibri"/>
              </a:rPr>
              <a:t>Requires correction &amp; resubmission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6931" y="1783080"/>
            <a:ext cx="8730234" cy="20574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1" name="TextBox 30"/>
          <p:cNvSpPr txBox="1"/>
          <p:nvPr/>
        </p:nvSpPr>
        <p:spPr>
          <a:xfrm>
            <a:off x="206931" y="1783080"/>
            <a:ext cx="873023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Nokia — 19 HOPs  ·  Billing In Progress  ·  Nokia Submitting Documentation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6931" y="2002536"/>
            <a:ext cx="8730234" cy="288036"/>
          </a:xfrm>
          <a:prstGeom prst="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3" name="TextBox 32"/>
          <p:cNvSpPr txBox="1"/>
          <p:nvPr/>
        </p:nvSpPr>
        <p:spPr>
          <a:xfrm>
            <a:off x="344091" y="2036826"/>
            <a:ext cx="845591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124191"/>
                </a:solidFill>
                <a:latin typeface="Calibri"/>
              </a:rPr>
              <a:t>Nokia is actively preparing and submitting billing packages for 19 On Air HOPs.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4091" y="2173986"/>
            <a:ext cx="845591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i="1">
                <a:solidFill>
                  <a:srgbClr val="595959"/>
                </a:solidFill>
                <a:latin typeface="Calibri"/>
              </a:rPr>
              <a:t>No Viaero action required at this time  ·  Nokia will notify upon submission for each HOP.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6931" y="2345436"/>
            <a:ext cx="8730234" cy="2057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6" name="TextBox 35"/>
          <p:cNvSpPr txBox="1"/>
          <p:nvPr/>
        </p:nvSpPr>
        <p:spPr>
          <a:xfrm>
            <a:off x="206931" y="2345436"/>
            <a:ext cx="873023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⚠️  Viaero Action Required — 18 HOPs  ·  Submitted  ·  Pending Viaero Acceptance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6931" y="2564892"/>
            <a:ext cx="2194560" cy="164592"/>
          </a:xfrm>
          <a:prstGeom prst="rect">
            <a:avLst/>
          </a:prstGeom>
          <a:solidFill>
            <a:srgbClr val="12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8" name="TextBox 37"/>
          <p:cNvSpPr txBox="1"/>
          <p:nvPr/>
        </p:nvSpPr>
        <p:spPr>
          <a:xfrm>
            <a:off x="206931" y="2564892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HOP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22065" y="2564892"/>
            <a:ext cx="754380" cy="164592"/>
          </a:xfrm>
          <a:prstGeom prst="rect">
            <a:avLst/>
          </a:prstGeom>
          <a:solidFill>
            <a:srgbClr val="12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0" name="TextBox 39"/>
          <p:cNvSpPr txBox="1"/>
          <p:nvPr/>
        </p:nvSpPr>
        <p:spPr>
          <a:xfrm>
            <a:off x="2422065" y="2564892"/>
            <a:ext cx="75438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GC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97019" y="2564892"/>
            <a:ext cx="960120" cy="164592"/>
          </a:xfrm>
          <a:prstGeom prst="rect">
            <a:avLst/>
          </a:prstGeom>
          <a:solidFill>
            <a:srgbClr val="12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2" name="TextBox 41"/>
          <p:cNvSpPr txBox="1"/>
          <p:nvPr/>
        </p:nvSpPr>
        <p:spPr>
          <a:xfrm>
            <a:off x="3197019" y="2564892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Site CM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7713" y="2564892"/>
            <a:ext cx="1028700" cy="164592"/>
          </a:xfrm>
          <a:prstGeom prst="rect">
            <a:avLst/>
          </a:prstGeom>
          <a:solidFill>
            <a:srgbClr val="12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4" name="TextBox 43"/>
          <p:cNvSpPr txBox="1"/>
          <p:nvPr/>
        </p:nvSpPr>
        <p:spPr>
          <a:xfrm>
            <a:off x="4177713" y="2564892"/>
            <a:ext cx="102870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Billing Status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26987" y="2564892"/>
            <a:ext cx="960120" cy="164592"/>
          </a:xfrm>
          <a:prstGeom prst="rect">
            <a:avLst/>
          </a:prstGeom>
          <a:solidFill>
            <a:srgbClr val="12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6" name="TextBox 45"/>
          <p:cNvSpPr txBox="1"/>
          <p:nvPr/>
        </p:nvSpPr>
        <p:spPr>
          <a:xfrm>
            <a:off x="5226987" y="2564892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Acceptance Bucket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07681" y="2564892"/>
            <a:ext cx="2331720" cy="164592"/>
          </a:xfrm>
          <a:prstGeom prst="rect">
            <a:avLst/>
          </a:prstGeom>
          <a:solidFill>
            <a:srgbClr val="12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8" name="TextBox 47"/>
          <p:cNvSpPr txBox="1"/>
          <p:nvPr/>
        </p:nvSpPr>
        <p:spPr>
          <a:xfrm>
            <a:off x="6207681" y="2564892"/>
            <a:ext cx="23317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Action Required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6931" y="2743200"/>
            <a:ext cx="219456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0" name="TextBox 49"/>
          <p:cNvSpPr txBox="1"/>
          <p:nvPr/>
        </p:nvSpPr>
        <p:spPr>
          <a:xfrm>
            <a:off x="206931" y="2743200"/>
            <a:ext cx="21945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NE-SARGENT-NE-COMSTOCK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22065" y="2743200"/>
            <a:ext cx="75438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2" name="TextBox 51"/>
          <p:cNvSpPr txBox="1"/>
          <p:nvPr/>
        </p:nvSpPr>
        <p:spPr>
          <a:xfrm>
            <a:off x="2422065" y="2743200"/>
            <a:ext cx="754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Mastec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97019" y="2743200"/>
            <a:ext cx="9601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4" name="TextBox 53"/>
          <p:cNvSpPr txBox="1"/>
          <p:nvPr/>
        </p:nvSpPr>
        <p:spPr>
          <a:xfrm>
            <a:off x="3197019" y="2743200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Benny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77713" y="2743200"/>
            <a:ext cx="102870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6" name="TextBox 55"/>
          <p:cNvSpPr txBox="1"/>
          <p:nvPr/>
        </p:nvSpPr>
        <p:spPr>
          <a:xfrm>
            <a:off x="4177713" y="2743200"/>
            <a:ext cx="10287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>
                <a:solidFill>
                  <a:srgbClr val="FF8C00"/>
                </a:solidFill>
                <a:latin typeface="Calibri"/>
              </a:rPr>
              <a:t>Viaero to Review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26987" y="2743200"/>
            <a:ext cx="9601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8" name="TextBox 57"/>
          <p:cNvSpPr txBox="1"/>
          <p:nvPr/>
        </p:nvSpPr>
        <p:spPr>
          <a:xfrm>
            <a:off x="5226987" y="2743200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Submitted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07681" y="2743200"/>
            <a:ext cx="23317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0" name="TextBox 59"/>
          <p:cNvSpPr txBox="1"/>
          <p:nvPr/>
        </p:nvSpPr>
        <p:spPr>
          <a:xfrm>
            <a:off x="6207681" y="2743200"/>
            <a:ext cx="23317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Review &amp; Accept Submission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6931" y="2935224"/>
            <a:ext cx="219456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2" name="TextBox 61"/>
          <p:cNvSpPr txBox="1"/>
          <p:nvPr/>
        </p:nvSpPr>
        <p:spPr>
          <a:xfrm>
            <a:off x="206931" y="2935224"/>
            <a:ext cx="21945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CO-STERLING_INDUSTRIAL-CO-STERLING_SW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22065" y="2935224"/>
            <a:ext cx="75438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4" name="TextBox 63"/>
          <p:cNvSpPr txBox="1"/>
          <p:nvPr/>
        </p:nvSpPr>
        <p:spPr>
          <a:xfrm>
            <a:off x="2422065" y="2935224"/>
            <a:ext cx="754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Vikor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97019" y="2935224"/>
            <a:ext cx="9601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6" name="TextBox 65"/>
          <p:cNvSpPr txBox="1"/>
          <p:nvPr/>
        </p:nvSpPr>
        <p:spPr>
          <a:xfrm>
            <a:off x="3197019" y="2935224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Scott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77713" y="2935224"/>
            <a:ext cx="102870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8" name="TextBox 67"/>
          <p:cNvSpPr txBox="1"/>
          <p:nvPr/>
        </p:nvSpPr>
        <p:spPr>
          <a:xfrm>
            <a:off x="4177713" y="2935224"/>
            <a:ext cx="10287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>
                <a:solidFill>
                  <a:srgbClr val="FF8C00"/>
                </a:solidFill>
                <a:latin typeface="Calibri"/>
              </a:rPr>
              <a:t>Viaero to Review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26987" y="2935224"/>
            <a:ext cx="9601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0" name="TextBox 69"/>
          <p:cNvSpPr txBox="1"/>
          <p:nvPr/>
        </p:nvSpPr>
        <p:spPr>
          <a:xfrm>
            <a:off x="5226987" y="2935224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Submitted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07681" y="2935224"/>
            <a:ext cx="23317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2" name="TextBox 71"/>
          <p:cNvSpPr txBox="1"/>
          <p:nvPr/>
        </p:nvSpPr>
        <p:spPr>
          <a:xfrm>
            <a:off x="6207681" y="2935224"/>
            <a:ext cx="23317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Review &amp; Accept Submission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6931" y="3127248"/>
            <a:ext cx="219456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4" name="TextBox 73"/>
          <p:cNvSpPr txBox="1"/>
          <p:nvPr/>
        </p:nvSpPr>
        <p:spPr>
          <a:xfrm>
            <a:off x="206931" y="3127248"/>
            <a:ext cx="21945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NE-NP_NORTH-NE-STAPLETON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22065" y="3127248"/>
            <a:ext cx="75438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6" name="TextBox 75"/>
          <p:cNvSpPr txBox="1"/>
          <p:nvPr/>
        </p:nvSpPr>
        <p:spPr>
          <a:xfrm>
            <a:off x="2422065" y="3127248"/>
            <a:ext cx="754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WaveLink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197019" y="3127248"/>
            <a:ext cx="9601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8" name="TextBox 77"/>
          <p:cNvSpPr txBox="1"/>
          <p:nvPr/>
        </p:nvSpPr>
        <p:spPr>
          <a:xfrm>
            <a:off x="3197019" y="3127248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Jason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77713" y="3127248"/>
            <a:ext cx="102870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0" name="TextBox 79"/>
          <p:cNvSpPr txBox="1"/>
          <p:nvPr/>
        </p:nvSpPr>
        <p:spPr>
          <a:xfrm>
            <a:off x="4177713" y="3127248"/>
            <a:ext cx="10287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>
                <a:solidFill>
                  <a:srgbClr val="FF8C00"/>
                </a:solidFill>
                <a:latin typeface="Calibri"/>
              </a:rPr>
              <a:t>Viaero to Review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226987" y="3127248"/>
            <a:ext cx="9601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2" name="TextBox 81"/>
          <p:cNvSpPr txBox="1"/>
          <p:nvPr/>
        </p:nvSpPr>
        <p:spPr>
          <a:xfrm>
            <a:off x="5226987" y="3127248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Submitted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07681" y="3127248"/>
            <a:ext cx="23317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4" name="TextBox 83"/>
          <p:cNvSpPr txBox="1"/>
          <p:nvPr/>
        </p:nvSpPr>
        <p:spPr>
          <a:xfrm>
            <a:off x="6207681" y="3127248"/>
            <a:ext cx="23317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Review &amp; Accept Submission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6931" y="3319272"/>
            <a:ext cx="219456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6" name="TextBox 85"/>
          <p:cNvSpPr txBox="1"/>
          <p:nvPr/>
        </p:nvSpPr>
        <p:spPr>
          <a:xfrm>
            <a:off x="206931" y="3319272"/>
            <a:ext cx="21945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NE-NORFOLK_DT-NE-NORFOLK_NE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422065" y="3319272"/>
            <a:ext cx="75438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8" name="TextBox 87"/>
          <p:cNvSpPr txBox="1"/>
          <p:nvPr/>
        </p:nvSpPr>
        <p:spPr>
          <a:xfrm>
            <a:off x="2422065" y="3319272"/>
            <a:ext cx="754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Tech CX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197019" y="3319272"/>
            <a:ext cx="9601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" name="TextBox 89"/>
          <p:cNvSpPr txBox="1"/>
          <p:nvPr/>
        </p:nvSpPr>
        <p:spPr>
          <a:xfrm>
            <a:off x="3197019" y="3319272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Hap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177713" y="3319272"/>
            <a:ext cx="102870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2" name="TextBox 91"/>
          <p:cNvSpPr txBox="1"/>
          <p:nvPr/>
        </p:nvSpPr>
        <p:spPr>
          <a:xfrm>
            <a:off x="4177713" y="3319272"/>
            <a:ext cx="10287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>
                <a:solidFill>
                  <a:srgbClr val="FF8C00"/>
                </a:solidFill>
                <a:latin typeface="Calibri"/>
              </a:rPr>
              <a:t>Viaero to Review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226987" y="3319272"/>
            <a:ext cx="9601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4" name="TextBox 93"/>
          <p:cNvSpPr txBox="1"/>
          <p:nvPr/>
        </p:nvSpPr>
        <p:spPr>
          <a:xfrm>
            <a:off x="5226987" y="3319272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Submitted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07681" y="3319272"/>
            <a:ext cx="23317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6" name="TextBox 95"/>
          <p:cNvSpPr txBox="1"/>
          <p:nvPr/>
        </p:nvSpPr>
        <p:spPr>
          <a:xfrm>
            <a:off x="6207681" y="3319272"/>
            <a:ext cx="23317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Review &amp; Accept Submission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6931" y="3511296"/>
            <a:ext cx="219456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8" name="TextBox 97"/>
          <p:cNvSpPr txBox="1"/>
          <p:nvPr/>
        </p:nvSpPr>
        <p:spPr>
          <a:xfrm>
            <a:off x="206931" y="3511296"/>
            <a:ext cx="21945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NE-MERRIMAN-NE-MERRIMAN_SOUTH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422065" y="3511296"/>
            <a:ext cx="75438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0" name="TextBox 99"/>
          <p:cNvSpPr txBox="1"/>
          <p:nvPr/>
        </p:nvSpPr>
        <p:spPr>
          <a:xfrm>
            <a:off x="2422065" y="3511296"/>
            <a:ext cx="754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Ethos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197019" y="3511296"/>
            <a:ext cx="9601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2" name="TextBox 101"/>
          <p:cNvSpPr txBox="1"/>
          <p:nvPr/>
        </p:nvSpPr>
        <p:spPr>
          <a:xfrm>
            <a:off x="3197019" y="3511296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Chris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177713" y="3511296"/>
            <a:ext cx="102870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4" name="TextBox 103"/>
          <p:cNvSpPr txBox="1"/>
          <p:nvPr/>
        </p:nvSpPr>
        <p:spPr>
          <a:xfrm>
            <a:off x="4177713" y="3511296"/>
            <a:ext cx="10287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>
                <a:solidFill>
                  <a:srgbClr val="FF8C00"/>
                </a:solidFill>
                <a:latin typeface="Calibri"/>
              </a:rPr>
              <a:t>Viaero to Review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226987" y="3511296"/>
            <a:ext cx="9601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6" name="TextBox 105"/>
          <p:cNvSpPr txBox="1"/>
          <p:nvPr/>
        </p:nvSpPr>
        <p:spPr>
          <a:xfrm>
            <a:off x="5226987" y="3511296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Submitted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207681" y="3511296"/>
            <a:ext cx="23317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8" name="TextBox 107"/>
          <p:cNvSpPr txBox="1"/>
          <p:nvPr/>
        </p:nvSpPr>
        <p:spPr>
          <a:xfrm>
            <a:off x="6207681" y="3511296"/>
            <a:ext cx="23317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Review &amp; Accept Submission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06931" y="3703320"/>
            <a:ext cx="219456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0" name="TextBox 109"/>
          <p:cNvSpPr txBox="1"/>
          <p:nvPr/>
        </p:nvSpPr>
        <p:spPr>
          <a:xfrm>
            <a:off x="206931" y="3703320"/>
            <a:ext cx="21945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NE-STATE_PARK-NE-CHADRON_SOUTH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422065" y="3703320"/>
            <a:ext cx="75438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2" name="TextBox 111"/>
          <p:cNvSpPr txBox="1"/>
          <p:nvPr/>
        </p:nvSpPr>
        <p:spPr>
          <a:xfrm>
            <a:off x="2422065" y="3703320"/>
            <a:ext cx="754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Viking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197019" y="3703320"/>
            <a:ext cx="9601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4" name="TextBox 113"/>
          <p:cNvSpPr txBox="1"/>
          <p:nvPr/>
        </p:nvSpPr>
        <p:spPr>
          <a:xfrm>
            <a:off x="3197019" y="3703320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George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177713" y="3703320"/>
            <a:ext cx="102870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6" name="TextBox 115"/>
          <p:cNvSpPr txBox="1"/>
          <p:nvPr/>
        </p:nvSpPr>
        <p:spPr>
          <a:xfrm>
            <a:off x="4177713" y="3703320"/>
            <a:ext cx="10287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>
                <a:solidFill>
                  <a:srgbClr val="FF8C00"/>
                </a:solidFill>
                <a:latin typeface="Calibri"/>
              </a:rPr>
              <a:t>Viaero to Review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226987" y="3703320"/>
            <a:ext cx="9601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8" name="TextBox 117"/>
          <p:cNvSpPr txBox="1"/>
          <p:nvPr/>
        </p:nvSpPr>
        <p:spPr>
          <a:xfrm>
            <a:off x="5226987" y="3703320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Submitted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207681" y="3703320"/>
            <a:ext cx="23317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0" name="TextBox 119"/>
          <p:cNvSpPr txBox="1"/>
          <p:nvPr/>
        </p:nvSpPr>
        <p:spPr>
          <a:xfrm>
            <a:off x="6207681" y="3703320"/>
            <a:ext cx="23317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Review &amp; Accept Submission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06931" y="3895344"/>
            <a:ext cx="219456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2" name="TextBox 121"/>
          <p:cNvSpPr txBox="1"/>
          <p:nvPr/>
        </p:nvSpPr>
        <p:spPr>
          <a:xfrm>
            <a:off x="206931" y="3895344"/>
            <a:ext cx="21945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NE-ELM_CREEK-NE-MILLER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422065" y="3895344"/>
            <a:ext cx="75438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4" name="TextBox 123"/>
          <p:cNvSpPr txBox="1"/>
          <p:nvPr/>
        </p:nvSpPr>
        <p:spPr>
          <a:xfrm>
            <a:off x="2422065" y="3895344"/>
            <a:ext cx="754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Site Property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197019" y="3895344"/>
            <a:ext cx="9601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6" name="TextBox 125"/>
          <p:cNvSpPr txBox="1"/>
          <p:nvPr/>
        </p:nvSpPr>
        <p:spPr>
          <a:xfrm>
            <a:off x="3197019" y="3895344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George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177713" y="3895344"/>
            <a:ext cx="102870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8" name="TextBox 127"/>
          <p:cNvSpPr txBox="1"/>
          <p:nvPr/>
        </p:nvSpPr>
        <p:spPr>
          <a:xfrm>
            <a:off x="4177713" y="3895344"/>
            <a:ext cx="10287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>
                <a:solidFill>
                  <a:srgbClr val="FF8C00"/>
                </a:solidFill>
                <a:latin typeface="Calibri"/>
              </a:rPr>
              <a:t>Viaero to Review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226987" y="3895344"/>
            <a:ext cx="9601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0" name="TextBox 129"/>
          <p:cNvSpPr txBox="1"/>
          <p:nvPr/>
        </p:nvSpPr>
        <p:spPr>
          <a:xfrm>
            <a:off x="5226987" y="3895344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Submitted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207681" y="3895344"/>
            <a:ext cx="23317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2" name="TextBox 131"/>
          <p:cNvSpPr txBox="1"/>
          <p:nvPr/>
        </p:nvSpPr>
        <p:spPr>
          <a:xfrm>
            <a:off x="6207681" y="3895344"/>
            <a:ext cx="23317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Review &amp; Accept Submission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06931" y="4087368"/>
            <a:ext cx="219456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4" name="TextBox 133"/>
          <p:cNvSpPr txBox="1"/>
          <p:nvPr/>
        </p:nvSpPr>
        <p:spPr>
          <a:xfrm>
            <a:off x="206931" y="4087368"/>
            <a:ext cx="21945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NE-SUMNER-NE-MILLER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422065" y="4087368"/>
            <a:ext cx="75438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6" name="TextBox 135"/>
          <p:cNvSpPr txBox="1"/>
          <p:nvPr/>
        </p:nvSpPr>
        <p:spPr>
          <a:xfrm>
            <a:off x="2422065" y="4087368"/>
            <a:ext cx="754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Site Property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197019" y="4087368"/>
            <a:ext cx="9601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8" name="TextBox 137"/>
          <p:cNvSpPr txBox="1"/>
          <p:nvPr/>
        </p:nvSpPr>
        <p:spPr>
          <a:xfrm>
            <a:off x="3197019" y="4087368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George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177713" y="4087368"/>
            <a:ext cx="102870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0" name="TextBox 139"/>
          <p:cNvSpPr txBox="1"/>
          <p:nvPr/>
        </p:nvSpPr>
        <p:spPr>
          <a:xfrm>
            <a:off x="4177713" y="4087368"/>
            <a:ext cx="10287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>
                <a:solidFill>
                  <a:srgbClr val="FF8C00"/>
                </a:solidFill>
                <a:latin typeface="Calibri"/>
              </a:rPr>
              <a:t>Viaero to Review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226987" y="4087368"/>
            <a:ext cx="9601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2" name="TextBox 141"/>
          <p:cNvSpPr txBox="1"/>
          <p:nvPr/>
        </p:nvSpPr>
        <p:spPr>
          <a:xfrm>
            <a:off x="5226987" y="4087368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Submitted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207681" y="4087368"/>
            <a:ext cx="23317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4" name="TextBox 143"/>
          <p:cNvSpPr txBox="1"/>
          <p:nvPr/>
        </p:nvSpPr>
        <p:spPr>
          <a:xfrm>
            <a:off x="6207681" y="4087368"/>
            <a:ext cx="23317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Review &amp; Accept Submission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06931" y="4279392"/>
            <a:ext cx="219456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6" name="TextBox 145"/>
          <p:cNvSpPr txBox="1"/>
          <p:nvPr/>
        </p:nvSpPr>
        <p:spPr>
          <a:xfrm>
            <a:off x="206931" y="4279392"/>
            <a:ext cx="21945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NE-MEAD_EAST-NE-WAHOO_NORTH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422065" y="4279392"/>
            <a:ext cx="75438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8" name="TextBox 147"/>
          <p:cNvSpPr txBox="1"/>
          <p:nvPr/>
        </p:nvSpPr>
        <p:spPr>
          <a:xfrm>
            <a:off x="2422065" y="4279392"/>
            <a:ext cx="754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Ethos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197019" y="4279392"/>
            <a:ext cx="9601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0" name="TextBox 149"/>
          <p:cNvSpPr txBox="1"/>
          <p:nvPr/>
        </p:nvSpPr>
        <p:spPr>
          <a:xfrm>
            <a:off x="3197019" y="4279392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Chris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177713" y="4279392"/>
            <a:ext cx="102870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2" name="TextBox 151"/>
          <p:cNvSpPr txBox="1"/>
          <p:nvPr/>
        </p:nvSpPr>
        <p:spPr>
          <a:xfrm>
            <a:off x="4177713" y="4279392"/>
            <a:ext cx="10287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>
                <a:solidFill>
                  <a:srgbClr val="FF8C00"/>
                </a:solidFill>
                <a:latin typeface="Calibri"/>
              </a:rPr>
              <a:t>Viaero to Review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226987" y="4279392"/>
            <a:ext cx="9601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4" name="TextBox 153"/>
          <p:cNvSpPr txBox="1"/>
          <p:nvPr/>
        </p:nvSpPr>
        <p:spPr>
          <a:xfrm>
            <a:off x="5226987" y="4279392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Submitted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207681" y="4279392"/>
            <a:ext cx="23317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6" name="TextBox 155"/>
          <p:cNvSpPr txBox="1"/>
          <p:nvPr/>
        </p:nvSpPr>
        <p:spPr>
          <a:xfrm>
            <a:off x="6207681" y="4279392"/>
            <a:ext cx="23317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Review &amp; Accept Submission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06931" y="4471416"/>
            <a:ext cx="219456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8" name="TextBox 157"/>
          <p:cNvSpPr txBox="1"/>
          <p:nvPr/>
        </p:nvSpPr>
        <p:spPr>
          <a:xfrm>
            <a:off x="206931" y="4471416"/>
            <a:ext cx="21945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NE-CAMBRIDGE-NE-WILSONVILLE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422065" y="4471416"/>
            <a:ext cx="75438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0" name="TextBox 159"/>
          <p:cNvSpPr txBox="1"/>
          <p:nvPr/>
        </p:nvSpPr>
        <p:spPr>
          <a:xfrm>
            <a:off x="2422065" y="4471416"/>
            <a:ext cx="754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Ethos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197019" y="4471416"/>
            <a:ext cx="9601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2" name="TextBox 161"/>
          <p:cNvSpPr txBox="1"/>
          <p:nvPr/>
        </p:nvSpPr>
        <p:spPr>
          <a:xfrm>
            <a:off x="3197019" y="4471416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Chris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177713" y="4471416"/>
            <a:ext cx="102870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4" name="TextBox 163"/>
          <p:cNvSpPr txBox="1"/>
          <p:nvPr/>
        </p:nvSpPr>
        <p:spPr>
          <a:xfrm>
            <a:off x="4177713" y="4471416"/>
            <a:ext cx="10287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>
                <a:solidFill>
                  <a:srgbClr val="FF8C00"/>
                </a:solidFill>
                <a:latin typeface="Calibri"/>
              </a:rPr>
              <a:t>Viaero to Review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226987" y="4471416"/>
            <a:ext cx="9601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6" name="TextBox 165"/>
          <p:cNvSpPr txBox="1"/>
          <p:nvPr/>
        </p:nvSpPr>
        <p:spPr>
          <a:xfrm>
            <a:off x="5226987" y="4471416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Submitted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207681" y="4471416"/>
            <a:ext cx="23317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8" name="TextBox 167"/>
          <p:cNvSpPr txBox="1"/>
          <p:nvPr/>
        </p:nvSpPr>
        <p:spPr>
          <a:xfrm>
            <a:off x="6207681" y="4471416"/>
            <a:ext cx="23317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Review &amp; Accept Submission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06931" y="4663440"/>
            <a:ext cx="219456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0" name="TextBox 169"/>
          <p:cNvSpPr txBox="1"/>
          <p:nvPr/>
        </p:nvSpPr>
        <p:spPr>
          <a:xfrm>
            <a:off x="206931" y="4663440"/>
            <a:ext cx="21945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NE-MILLER-NE-EDDYVILLE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422065" y="4663440"/>
            <a:ext cx="75438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2" name="TextBox 171"/>
          <p:cNvSpPr txBox="1"/>
          <p:nvPr/>
        </p:nvSpPr>
        <p:spPr>
          <a:xfrm>
            <a:off x="2422065" y="4663440"/>
            <a:ext cx="754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Site Property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197019" y="4663440"/>
            <a:ext cx="9601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4" name="TextBox 173"/>
          <p:cNvSpPr txBox="1"/>
          <p:nvPr/>
        </p:nvSpPr>
        <p:spPr>
          <a:xfrm>
            <a:off x="3197019" y="4663440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George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177713" y="4663440"/>
            <a:ext cx="102870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6" name="TextBox 175"/>
          <p:cNvSpPr txBox="1"/>
          <p:nvPr/>
        </p:nvSpPr>
        <p:spPr>
          <a:xfrm>
            <a:off x="4177713" y="4663440"/>
            <a:ext cx="10287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>
                <a:solidFill>
                  <a:srgbClr val="FF8C00"/>
                </a:solidFill>
                <a:latin typeface="Calibri"/>
              </a:rPr>
              <a:t>Viaero to Review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5226987" y="4663440"/>
            <a:ext cx="9601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8" name="TextBox 177"/>
          <p:cNvSpPr txBox="1"/>
          <p:nvPr/>
        </p:nvSpPr>
        <p:spPr>
          <a:xfrm>
            <a:off x="5226987" y="4663440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Submitted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207681" y="4663440"/>
            <a:ext cx="23317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0" name="TextBox 179"/>
          <p:cNvSpPr txBox="1"/>
          <p:nvPr/>
        </p:nvSpPr>
        <p:spPr>
          <a:xfrm>
            <a:off x="6207681" y="4663440"/>
            <a:ext cx="23317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Review &amp; Accept Submission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06931" y="4855464"/>
            <a:ext cx="219456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2" name="TextBox 181"/>
          <p:cNvSpPr txBox="1"/>
          <p:nvPr/>
        </p:nvSpPr>
        <p:spPr>
          <a:xfrm>
            <a:off x="206931" y="4855464"/>
            <a:ext cx="21945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NE-EUSTIS_DT-NE-EUSTIS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422065" y="4855464"/>
            <a:ext cx="75438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4" name="TextBox 183"/>
          <p:cNvSpPr txBox="1"/>
          <p:nvPr/>
        </p:nvSpPr>
        <p:spPr>
          <a:xfrm>
            <a:off x="2422065" y="4855464"/>
            <a:ext cx="754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MZI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197019" y="4855464"/>
            <a:ext cx="9601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6" name="TextBox 185"/>
          <p:cNvSpPr txBox="1"/>
          <p:nvPr/>
        </p:nvSpPr>
        <p:spPr>
          <a:xfrm>
            <a:off x="3197019" y="4855464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Steve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177713" y="4855464"/>
            <a:ext cx="102870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8" name="TextBox 187"/>
          <p:cNvSpPr txBox="1"/>
          <p:nvPr/>
        </p:nvSpPr>
        <p:spPr>
          <a:xfrm>
            <a:off x="4177713" y="4855464"/>
            <a:ext cx="10287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>
                <a:solidFill>
                  <a:srgbClr val="FF8C00"/>
                </a:solidFill>
                <a:latin typeface="Calibri"/>
              </a:rPr>
              <a:t>Viaero to Review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226987" y="4855464"/>
            <a:ext cx="9601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0" name="TextBox 189"/>
          <p:cNvSpPr txBox="1"/>
          <p:nvPr/>
        </p:nvSpPr>
        <p:spPr>
          <a:xfrm>
            <a:off x="5226987" y="4855464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Submitted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207681" y="4855464"/>
            <a:ext cx="23317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2" name="TextBox 191"/>
          <p:cNvSpPr txBox="1"/>
          <p:nvPr/>
        </p:nvSpPr>
        <p:spPr>
          <a:xfrm>
            <a:off x="6207681" y="4855464"/>
            <a:ext cx="23317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Review &amp; Accept Submission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06931" y="5047488"/>
            <a:ext cx="219456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4" name="TextBox 193"/>
          <p:cNvSpPr txBox="1"/>
          <p:nvPr/>
        </p:nvSpPr>
        <p:spPr>
          <a:xfrm>
            <a:off x="206931" y="5047488"/>
            <a:ext cx="21945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NE-WAUNETA-NE-WAUNETA_SW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422065" y="5047488"/>
            <a:ext cx="75438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6" name="TextBox 195"/>
          <p:cNvSpPr txBox="1"/>
          <p:nvPr/>
        </p:nvSpPr>
        <p:spPr>
          <a:xfrm>
            <a:off x="2422065" y="5047488"/>
            <a:ext cx="754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Capital Tower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3197019" y="5047488"/>
            <a:ext cx="9601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8" name="TextBox 197"/>
          <p:cNvSpPr txBox="1"/>
          <p:nvPr/>
        </p:nvSpPr>
        <p:spPr>
          <a:xfrm>
            <a:off x="3197019" y="5047488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Chris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4177713" y="5047488"/>
            <a:ext cx="102870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0" name="TextBox 199"/>
          <p:cNvSpPr txBox="1"/>
          <p:nvPr/>
        </p:nvSpPr>
        <p:spPr>
          <a:xfrm>
            <a:off x="4177713" y="5047488"/>
            <a:ext cx="10287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>
                <a:solidFill>
                  <a:srgbClr val="FF8C00"/>
                </a:solidFill>
                <a:latin typeface="Calibri"/>
              </a:rPr>
              <a:t>Viaero to Review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5226987" y="5047488"/>
            <a:ext cx="9601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2" name="TextBox 201"/>
          <p:cNvSpPr txBox="1"/>
          <p:nvPr/>
        </p:nvSpPr>
        <p:spPr>
          <a:xfrm>
            <a:off x="5226987" y="5047488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Submitted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207681" y="5047488"/>
            <a:ext cx="23317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4" name="TextBox 203"/>
          <p:cNvSpPr txBox="1"/>
          <p:nvPr/>
        </p:nvSpPr>
        <p:spPr>
          <a:xfrm>
            <a:off x="6207681" y="5047488"/>
            <a:ext cx="23317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Review &amp; Accept Submission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206931" y="5239512"/>
            <a:ext cx="219456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6" name="TextBox 205"/>
          <p:cNvSpPr txBox="1"/>
          <p:nvPr/>
        </p:nvSpPr>
        <p:spPr>
          <a:xfrm>
            <a:off x="206931" y="5239512"/>
            <a:ext cx="21945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CO-STERLING_DT-CO-PAWNEE_PASS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2422065" y="5239512"/>
            <a:ext cx="75438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8" name="TextBox 207"/>
          <p:cNvSpPr txBox="1"/>
          <p:nvPr/>
        </p:nvSpPr>
        <p:spPr>
          <a:xfrm>
            <a:off x="2422065" y="5239512"/>
            <a:ext cx="754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Vikor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3197019" y="5239512"/>
            <a:ext cx="9601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0" name="TextBox 209"/>
          <p:cNvSpPr txBox="1"/>
          <p:nvPr/>
        </p:nvSpPr>
        <p:spPr>
          <a:xfrm>
            <a:off x="3197019" y="5239512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Scott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177713" y="5239512"/>
            <a:ext cx="102870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2" name="TextBox 211"/>
          <p:cNvSpPr txBox="1"/>
          <p:nvPr/>
        </p:nvSpPr>
        <p:spPr>
          <a:xfrm>
            <a:off x="4177713" y="5239512"/>
            <a:ext cx="10287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>
                <a:solidFill>
                  <a:srgbClr val="FF8C00"/>
                </a:solidFill>
                <a:latin typeface="Calibri"/>
              </a:rPr>
              <a:t>Viaero to Review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226987" y="5239512"/>
            <a:ext cx="9601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4" name="TextBox 213"/>
          <p:cNvSpPr txBox="1"/>
          <p:nvPr/>
        </p:nvSpPr>
        <p:spPr>
          <a:xfrm>
            <a:off x="5226987" y="5239512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Submitted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207681" y="5239512"/>
            <a:ext cx="23317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6" name="TextBox 215"/>
          <p:cNvSpPr txBox="1"/>
          <p:nvPr/>
        </p:nvSpPr>
        <p:spPr>
          <a:xfrm>
            <a:off x="6207681" y="5239512"/>
            <a:ext cx="23317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Review &amp; Accept Submission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206931" y="5431536"/>
            <a:ext cx="219456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8" name="TextBox 217"/>
          <p:cNvSpPr txBox="1"/>
          <p:nvPr/>
        </p:nvSpPr>
        <p:spPr>
          <a:xfrm>
            <a:off x="206931" y="5431536"/>
            <a:ext cx="21945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NE-SQUAW_MOUND-NE-CRAWFORD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422065" y="5431536"/>
            <a:ext cx="75438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0" name="TextBox 219"/>
          <p:cNvSpPr txBox="1"/>
          <p:nvPr/>
        </p:nvSpPr>
        <p:spPr>
          <a:xfrm>
            <a:off x="2422065" y="5431536"/>
            <a:ext cx="754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Vikor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3197019" y="5431536"/>
            <a:ext cx="9601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2" name="TextBox 221"/>
          <p:cNvSpPr txBox="1"/>
          <p:nvPr/>
        </p:nvSpPr>
        <p:spPr>
          <a:xfrm>
            <a:off x="3197019" y="5431536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Scott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4177713" y="5431536"/>
            <a:ext cx="102870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4" name="TextBox 223"/>
          <p:cNvSpPr txBox="1"/>
          <p:nvPr/>
        </p:nvSpPr>
        <p:spPr>
          <a:xfrm>
            <a:off x="4177713" y="5431536"/>
            <a:ext cx="10287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>
                <a:solidFill>
                  <a:srgbClr val="FF8C00"/>
                </a:solidFill>
                <a:latin typeface="Calibri"/>
              </a:rPr>
              <a:t>Viaero to Review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5226987" y="5431536"/>
            <a:ext cx="9601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6" name="TextBox 225"/>
          <p:cNvSpPr txBox="1"/>
          <p:nvPr/>
        </p:nvSpPr>
        <p:spPr>
          <a:xfrm>
            <a:off x="5226987" y="5431536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Submitted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207681" y="5431536"/>
            <a:ext cx="23317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8" name="TextBox 227"/>
          <p:cNvSpPr txBox="1"/>
          <p:nvPr/>
        </p:nvSpPr>
        <p:spPr>
          <a:xfrm>
            <a:off x="6207681" y="5431536"/>
            <a:ext cx="23317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Review &amp; Accept Submission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206931" y="5623560"/>
            <a:ext cx="219456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0" name="TextBox 229"/>
          <p:cNvSpPr txBox="1"/>
          <p:nvPr/>
        </p:nvSpPr>
        <p:spPr>
          <a:xfrm>
            <a:off x="206931" y="5623560"/>
            <a:ext cx="21945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NE-EUSTIS-NE-ELWOOD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422065" y="5623560"/>
            <a:ext cx="75438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2" name="TextBox 231"/>
          <p:cNvSpPr txBox="1"/>
          <p:nvPr/>
        </p:nvSpPr>
        <p:spPr>
          <a:xfrm>
            <a:off x="2422065" y="5623560"/>
            <a:ext cx="754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MZI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3197019" y="5623560"/>
            <a:ext cx="9601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4" name="TextBox 233"/>
          <p:cNvSpPr txBox="1"/>
          <p:nvPr/>
        </p:nvSpPr>
        <p:spPr>
          <a:xfrm>
            <a:off x="3197019" y="5623560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Steve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4177713" y="5623560"/>
            <a:ext cx="102870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6" name="TextBox 235"/>
          <p:cNvSpPr txBox="1"/>
          <p:nvPr/>
        </p:nvSpPr>
        <p:spPr>
          <a:xfrm>
            <a:off x="4177713" y="5623560"/>
            <a:ext cx="10287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>
                <a:solidFill>
                  <a:srgbClr val="FF8C00"/>
                </a:solidFill>
                <a:latin typeface="Calibri"/>
              </a:rPr>
              <a:t>Viaero to Review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5226987" y="5623560"/>
            <a:ext cx="9601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8" name="TextBox 237"/>
          <p:cNvSpPr txBox="1"/>
          <p:nvPr/>
        </p:nvSpPr>
        <p:spPr>
          <a:xfrm>
            <a:off x="5226987" y="5623560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Submitted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207681" y="5623560"/>
            <a:ext cx="2331720" cy="18516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0" name="TextBox 239"/>
          <p:cNvSpPr txBox="1"/>
          <p:nvPr/>
        </p:nvSpPr>
        <p:spPr>
          <a:xfrm>
            <a:off x="6207681" y="5623560"/>
            <a:ext cx="23317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Review &amp; Accept Submission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206931" y="5815584"/>
            <a:ext cx="219456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2" name="TextBox 241"/>
          <p:cNvSpPr txBox="1"/>
          <p:nvPr/>
        </p:nvSpPr>
        <p:spPr>
          <a:xfrm>
            <a:off x="206931" y="5815584"/>
            <a:ext cx="21945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NE-HERSHEY-NE-SUTHERLAND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2422065" y="5815584"/>
            <a:ext cx="75438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4" name="TextBox 243"/>
          <p:cNvSpPr txBox="1"/>
          <p:nvPr/>
        </p:nvSpPr>
        <p:spPr>
          <a:xfrm>
            <a:off x="2422065" y="5815584"/>
            <a:ext cx="754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Capital Tower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3197019" y="5815584"/>
            <a:ext cx="9601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6" name="TextBox 245"/>
          <p:cNvSpPr txBox="1"/>
          <p:nvPr/>
        </p:nvSpPr>
        <p:spPr>
          <a:xfrm>
            <a:off x="3197019" y="5815584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Chris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4177713" y="5815584"/>
            <a:ext cx="102870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8" name="TextBox 247"/>
          <p:cNvSpPr txBox="1"/>
          <p:nvPr/>
        </p:nvSpPr>
        <p:spPr>
          <a:xfrm>
            <a:off x="4177713" y="5815584"/>
            <a:ext cx="10287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>
                <a:solidFill>
                  <a:srgbClr val="FF8C00"/>
                </a:solidFill>
                <a:latin typeface="Calibri"/>
              </a:rPr>
              <a:t>Viaero to Review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5226987" y="5815584"/>
            <a:ext cx="9601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0" name="TextBox 249"/>
          <p:cNvSpPr txBox="1"/>
          <p:nvPr/>
        </p:nvSpPr>
        <p:spPr>
          <a:xfrm>
            <a:off x="5226987" y="5815584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Submitted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6207681" y="5815584"/>
            <a:ext cx="2331720" cy="18516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2" name="TextBox 251"/>
          <p:cNvSpPr txBox="1"/>
          <p:nvPr/>
        </p:nvSpPr>
        <p:spPr>
          <a:xfrm>
            <a:off x="6207681" y="5815584"/>
            <a:ext cx="23317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Review &amp; Accept Submission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206931" y="6007608"/>
            <a:ext cx="2194560" cy="185166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4" name="TextBox 253"/>
          <p:cNvSpPr txBox="1"/>
          <p:nvPr/>
        </p:nvSpPr>
        <p:spPr>
          <a:xfrm>
            <a:off x="206931" y="6007608"/>
            <a:ext cx="219456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1F1F1F"/>
                </a:solidFill>
                <a:latin typeface="Calibri"/>
              </a:rPr>
              <a:t>CO-BOYERO-CO-KIT_CARSON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2422065" y="6007608"/>
            <a:ext cx="754380" cy="185166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6" name="TextBox 255"/>
          <p:cNvSpPr txBox="1"/>
          <p:nvPr/>
        </p:nvSpPr>
        <p:spPr>
          <a:xfrm>
            <a:off x="2422065" y="6007608"/>
            <a:ext cx="7543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InSite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3197019" y="6007608"/>
            <a:ext cx="960120" cy="185166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8" name="TextBox 257"/>
          <p:cNvSpPr txBox="1"/>
          <p:nvPr/>
        </p:nvSpPr>
        <p:spPr>
          <a:xfrm>
            <a:off x="3197019" y="6007608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Kal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4177713" y="6007608"/>
            <a:ext cx="1028700" cy="185166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0" name="TextBox 259"/>
          <p:cNvSpPr txBox="1"/>
          <p:nvPr/>
        </p:nvSpPr>
        <p:spPr>
          <a:xfrm>
            <a:off x="4177713" y="6007608"/>
            <a:ext cx="10287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>
                <a:solidFill>
                  <a:srgbClr val="C00000"/>
                </a:solidFill>
                <a:latin typeface="Calibri"/>
              </a:rPr>
              <a:t>Rejected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5226987" y="6007608"/>
            <a:ext cx="960120" cy="185166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2" name="TextBox 261"/>
          <p:cNvSpPr txBox="1"/>
          <p:nvPr/>
        </p:nvSpPr>
        <p:spPr>
          <a:xfrm>
            <a:off x="5226987" y="6007608"/>
            <a:ext cx="9601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1F1F1F"/>
                </a:solidFill>
                <a:latin typeface="Calibri"/>
              </a:rPr>
              <a:t>Submitted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6207681" y="6007608"/>
            <a:ext cx="2331720" cy="185166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4" name="TextBox 263"/>
          <p:cNvSpPr txBox="1"/>
          <p:nvPr/>
        </p:nvSpPr>
        <p:spPr>
          <a:xfrm>
            <a:off x="6207681" y="6007608"/>
            <a:ext cx="233172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>
                <a:solidFill>
                  <a:srgbClr val="C00000"/>
                </a:solidFill>
                <a:latin typeface="Calibri"/>
              </a:rPr>
              <a:t>🔴 Rejected — review and resubmit correction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91" y="0"/>
            <a:ext cx="9141714" cy="493776"/>
          </a:xfrm>
          <a:prstGeom prst="rect">
            <a:avLst/>
          </a:prstGeom>
          <a:solidFill>
            <a:srgbClr val="12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138351" y="54864"/>
            <a:ext cx="8867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Final SCOP Close-Out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351" y="318142"/>
            <a:ext cx="8867394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i="1">
                <a:solidFill>
                  <a:srgbClr val="FFFFFF"/>
                </a:solidFill>
                <a:latin typeface="Calibri"/>
              </a:rPr>
              <a:t>SCOP Owner filter  ·  84 HOPs  ·  June 18,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77263" y="562356"/>
            <a:ext cx="1920240" cy="603504"/>
          </a:xfrm>
          <a:prstGeom prst="rect">
            <a:avLst/>
          </a:prstGeom>
          <a:solidFill>
            <a:srgbClr val="12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577263" y="589788"/>
            <a:ext cx="1920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7263" y="946404"/>
            <a:ext cx="1920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Total HOPs
in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0373" y="562356"/>
            <a:ext cx="1920240" cy="603504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2600373" y="589788"/>
            <a:ext cx="1920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0373" y="946404"/>
            <a:ext cx="1920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Nokia
In Progress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3483" y="562356"/>
            <a:ext cx="1920240" cy="60350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4623483" y="589788"/>
            <a:ext cx="1920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3483" y="946404"/>
            <a:ext cx="1920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Viaero
Action Needed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46593" y="562356"/>
            <a:ext cx="1920240" cy="603504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6646593" y="589788"/>
            <a:ext cx="1920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6593" y="946404"/>
            <a:ext cx="1920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All Docs
Uploaded 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6931" y="1248156"/>
            <a:ext cx="8730234" cy="219456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TextBox 18"/>
          <p:cNvSpPr txBox="1"/>
          <p:nvPr/>
        </p:nvSpPr>
        <p:spPr>
          <a:xfrm>
            <a:off x="206931" y="1248156"/>
            <a:ext cx="873023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Nokia — 61 HOPs  ·  SCOP In Progress  ·  Nokia Team Driving Close-Out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6931" y="1481328"/>
            <a:ext cx="8730234" cy="377190"/>
          </a:xfrm>
          <a:prstGeom prst="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TextBox 20"/>
          <p:cNvSpPr txBox="1"/>
          <p:nvPr/>
        </p:nvSpPr>
        <p:spPr>
          <a:xfrm>
            <a:off x="344091" y="1515618"/>
            <a:ext cx="845591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124191"/>
                </a:solidFill>
                <a:latin typeface="Calibri"/>
              </a:rPr>
              <a:t>Nokia is actively managing close-out documentation for all 61 HOPs. 57 HOPs in progress uploading deliverables.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091" y="1673352"/>
            <a:ext cx="845591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i="1">
                <a:solidFill>
                  <a:srgbClr val="595959"/>
                </a:solidFill>
                <a:latin typeface="Calibri"/>
              </a:rPr>
              <a:t>No customer action required at this time  ·  Nokia will provide updates as docs are uploaded and submitted.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6931" y="1906524"/>
            <a:ext cx="2841498" cy="562356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TextBox 23"/>
          <p:cNvSpPr txBox="1"/>
          <p:nvPr/>
        </p:nvSpPr>
        <p:spPr>
          <a:xfrm>
            <a:off x="275511" y="1933956"/>
            <a:ext cx="270433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FFFFF"/>
                </a:solidFill>
                <a:latin typeface="Calibri"/>
              </a:rPr>
              <a:t>📋 Documentation
In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5511" y="2139697"/>
            <a:ext cx="27043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57 HOPs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5511" y="2318004"/>
            <a:ext cx="2704338" cy="173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5" i="1">
                <a:solidFill>
                  <a:srgbClr val="FFFFFF"/>
                </a:solidFill>
                <a:latin typeface="Calibri"/>
              </a:rPr>
              <a:t>Nokia team uploading QB docs, asset forms, PODs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1299" y="1906524"/>
            <a:ext cx="2841498" cy="562356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8" name="TextBox 27"/>
          <p:cNvSpPr txBox="1"/>
          <p:nvPr/>
        </p:nvSpPr>
        <p:spPr>
          <a:xfrm>
            <a:off x="3219879" y="1933956"/>
            <a:ext cx="270433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FFFFF"/>
                </a:solidFill>
                <a:latin typeface="Calibri"/>
              </a:rPr>
              <a:t>✅ All Docs
Uploaded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19879" y="2139697"/>
            <a:ext cx="27043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27 HOPs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19879" y="2318004"/>
            <a:ext cx="2704338" cy="173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5" i="1">
                <a:solidFill>
                  <a:srgbClr val="FFFFFF"/>
                </a:solidFill>
                <a:latin typeface="Calibri"/>
              </a:rPr>
              <a:t>Docs complete — awaiting Viaero acceptance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5667" y="1906524"/>
            <a:ext cx="2841498" cy="562356"/>
          </a:xfrm>
          <a:prstGeom prst="rect">
            <a:avLst/>
          </a:prstGeom>
          <a:solidFill>
            <a:srgbClr val="0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2" name="TextBox 31"/>
          <p:cNvSpPr txBox="1"/>
          <p:nvPr/>
        </p:nvSpPr>
        <p:spPr>
          <a:xfrm>
            <a:off x="6164247" y="1933956"/>
            <a:ext cx="2704338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FFFFFF"/>
                </a:solidFill>
                <a:latin typeface="Calibri"/>
              </a:rPr>
              <a:t>🎯 Target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4247" y="2139697"/>
            <a:ext cx="27043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100% Uploaded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4247" y="2318004"/>
            <a:ext cx="2704338" cy="173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5" i="1">
                <a:solidFill>
                  <a:srgbClr val="FFFFFF"/>
                </a:solidFill>
                <a:latin typeface="Calibri"/>
              </a:rPr>
              <a:t>Nokia tracking each deliverable to completion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6931" y="2537460"/>
            <a:ext cx="8730234" cy="21945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6" name="TextBox 35"/>
          <p:cNvSpPr txBox="1"/>
          <p:nvPr/>
        </p:nvSpPr>
        <p:spPr>
          <a:xfrm>
            <a:off x="206931" y="2537460"/>
            <a:ext cx="873023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⚠️  Viaero Action Required — 23 HOPs  ·  All Docs Uploaded  ·  Awaiting Viaero Acceptance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6931" y="2770632"/>
            <a:ext cx="2194560" cy="164592"/>
          </a:xfrm>
          <a:prstGeom prst="rect">
            <a:avLst/>
          </a:prstGeom>
          <a:solidFill>
            <a:srgbClr val="12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8" name="TextBox 37"/>
          <p:cNvSpPr txBox="1"/>
          <p:nvPr/>
        </p:nvSpPr>
        <p:spPr>
          <a:xfrm>
            <a:off x="206931" y="2770632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HOP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22065" y="2770632"/>
            <a:ext cx="822960" cy="164592"/>
          </a:xfrm>
          <a:prstGeom prst="rect">
            <a:avLst/>
          </a:prstGeom>
          <a:solidFill>
            <a:srgbClr val="12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0" name="TextBox 39"/>
          <p:cNvSpPr txBox="1"/>
          <p:nvPr/>
        </p:nvSpPr>
        <p:spPr>
          <a:xfrm>
            <a:off x="2422065" y="2770632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GC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5599" y="2770632"/>
            <a:ext cx="960120" cy="164592"/>
          </a:xfrm>
          <a:prstGeom prst="rect">
            <a:avLst/>
          </a:prstGeom>
          <a:solidFill>
            <a:srgbClr val="12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2" name="TextBox 41"/>
          <p:cNvSpPr txBox="1"/>
          <p:nvPr/>
        </p:nvSpPr>
        <p:spPr>
          <a:xfrm>
            <a:off x="3265599" y="2770632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Site CM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46293" y="2770632"/>
            <a:ext cx="960120" cy="164592"/>
          </a:xfrm>
          <a:prstGeom prst="rect">
            <a:avLst/>
          </a:prstGeom>
          <a:solidFill>
            <a:srgbClr val="12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4" name="TextBox 43"/>
          <p:cNvSpPr txBox="1"/>
          <p:nvPr/>
        </p:nvSpPr>
        <p:spPr>
          <a:xfrm>
            <a:off x="4246293" y="2770632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SCOP Status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26987" y="2770632"/>
            <a:ext cx="3737610" cy="164592"/>
          </a:xfrm>
          <a:prstGeom prst="rect">
            <a:avLst/>
          </a:prstGeom>
          <a:solidFill>
            <a:srgbClr val="12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6" name="TextBox 45"/>
          <p:cNvSpPr txBox="1"/>
          <p:nvPr/>
        </p:nvSpPr>
        <p:spPr>
          <a:xfrm>
            <a:off x="5226987" y="2770632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Calibri"/>
              </a:rPr>
              <a:t>Deliverables Uploaded — Awaiting Viaero Acceptance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6931" y="2948940"/>
            <a:ext cx="21945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8" name="TextBox 47"/>
          <p:cNvSpPr txBox="1"/>
          <p:nvPr/>
        </p:nvSpPr>
        <p:spPr>
          <a:xfrm>
            <a:off x="206931" y="294894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NE-NP_NORTH-NE-STAPLETON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2065" y="2948940"/>
            <a:ext cx="8229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0" name="TextBox 49"/>
          <p:cNvSpPr txBox="1"/>
          <p:nvPr/>
        </p:nvSpPr>
        <p:spPr>
          <a:xfrm>
            <a:off x="2422065" y="294894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WaveLink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65599" y="29489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2" name="TextBox 51"/>
          <p:cNvSpPr txBox="1"/>
          <p:nvPr/>
        </p:nvSpPr>
        <p:spPr>
          <a:xfrm>
            <a:off x="3265599" y="29489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Jason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46293" y="29489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4" name="TextBox 53"/>
          <p:cNvSpPr txBox="1"/>
          <p:nvPr/>
        </p:nvSpPr>
        <p:spPr>
          <a:xfrm>
            <a:off x="4246293" y="29489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26987" y="2948940"/>
            <a:ext cx="373761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6" name="TextBox 55"/>
          <p:cNvSpPr txBox="1"/>
          <p:nvPr/>
        </p:nvSpPr>
        <p:spPr>
          <a:xfrm>
            <a:off x="5226987" y="294894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6931" y="3120390"/>
            <a:ext cx="21945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8" name="TextBox 57"/>
          <p:cNvSpPr txBox="1"/>
          <p:nvPr/>
        </p:nvSpPr>
        <p:spPr>
          <a:xfrm>
            <a:off x="206931" y="312039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NE-NORFOLK_DT-NE-NORFOLK_NE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22065" y="3120390"/>
            <a:ext cx="8229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0" name="TextBox 59"/>
          <p:cNvSpPr txBox="1"/>
          <p:nvPr/>
        </p:nvSpPr>
        <p:spPr>
          <a:xfrm>
            <a:off x="2422065" y="312039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Tech CX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65599" y="31203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2" name="TextBox 61"/>
          <p:cNvSpPr txBox="1"/>
          <p:nvPr/>
        </p:nvSpPr>
        <p:spPr>
          <a:xfrm>
            <a:off x="3265599" y="31203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Hap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46293" y="31203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4" name="TextBox 63"/>
          <p:cNvSpPr txBox="1"/>
          <p:nvPr/>
        </p:nvSpPr>
        <p:spPr>
          <a:xfrm>
            <a:off x="4246293" y="31203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26987" y="3120390"/>
            <a:ext cx="373761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6" name="TextBox 65"/>
          <p:cNvSpPr txBox="1"/>
          <p:nvPr/>
        </p:nvSpPr>
        <p:spPr>
          <a:xfrm>
            <a:off x="5226987" y="312039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6931" y="3291840"/>
            <a:ext cx="21945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8" name="TextBox 67"/>
          <p:cNvSpPr txBox="1"/>
          <p:nvPr/>
        </p:nvSpPr>
        <p:spPr>
          <a:xfrm>
            <a:off x="206931" y="329184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NE-SUMNER-NE-MILLER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22065" y="3291840"/>
            <a:ext cx="8229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0" name="TextBox 69"/>
          <p:cNvSpPr txBox="1"/>
          <p:nvPr/>
        </p:nvSpPr>
        <p:spPr>
          <a:xfrm>
            <a:off x="2422065" y="329184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Site Property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65599" y="32918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2" name="TextBox 71"/>
          <p:cNvSpPr txBox="1"/>
          <p:nvPr/>
        </p:nvSpPr>
        <p:spPr>
          <a:xfrm>
            <a:off x="3265599" y="32918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George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46293" y="32918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4" name="TextBox 73"/>
          <p:cNvSpPr txBox="1"/>
          <p:nvPr/>
        </p:nvSpPr>
        <p:spPr>
          <a:xfrm>
            <a:off x="4246293" y="32918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26987" y="3291840"/>
            <a:ext cx="373761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6" name="TextBox 75"/>
          <p:cNvSpPr txBox="1"/>
          <p:nvPr/>
        </p:nvSpPr>
        <p:spPr>
          <a:xfrm>
            <a:off x="5226987" y="329184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6931" y="3463290"/>
            <a:ext cx="21945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8" name="TextBox 77"/>
          <p:cNvSpPr txBox="1"/>
          <p:nvPr/>
        </p:nvSpPr>
        <p:spPr>
          <a:xfrm>
            <a:off x="206931" y="346329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NE-BASSETT-NE-BASSETT_SOUTH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22065" y="3463290"/>
            <a:ext cx="8229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0" name="TextBox 79"/>
          <p:cNvSpPr txBox="1"/>
          <p:nvPr/>
        </p:nvSpPr>
        <p:spPr>
          <a:xfrm>
            <a:off x="2422065" y="346329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Tech CX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65599" y="34632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2" name="TextBox 81"/>
          <p:cNvSpPr txBox="1"/>
          <p:nvPr/>
        </p:nvSpPr>
        <p:spPr>
          <a:xfrm>
            <a:off x="3265599" y="34632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Hap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46293" y="34632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4" name="TextBox 83"/>
          <p:cNvSpPr txBox="1"/>
          <p:nvPr/>
        </p:nvSpPr>
        <p:spPr>
          <a:xfrm>
            <a:off x="4246293" y="34632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26987" y="3463290"/>
            <a:ext cx="373761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6" name="TextBox 85"/>
          <p:cNvSpPr txBox="1"/>
          <p:nvPr/>
        </p:nvSpPr>
        <p:spPr>
          <a:xfrm>
            <a:off x="5226987" y="346329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06931" y="3634740"/>
            <a:ext cx="21945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8" name="TextBox 87"/>
          <p:cNvSpPr txBox="1"/>
          <p:nvPr/>
        </p:nvSpPr>
        <p:spPr>
          <a:xfrm>
            <a:off x="206931" y="363474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NE-EUSTIS_DT-NE-EUSTIS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422065" y="3634740"/>
            <a:ext cx="8229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" name="TextBox 89"/>
          <p:cNvSpPr txBox="1"/>
          <p:nvPr/>
        </p:nvSpPr>
        <p:spPr>
          <a:xfrm>
            <a:off x="2422065" y="363474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MZI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65599" y="36347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2" name="TextBox 91"/>
          <p:cNvSpPr txBox="1"/>
          <p:nvPr/>
        </p:nvSpPr>
        <p:spPr>
          <a:xfrm>
            <a:off x="3265599" y="36347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Steve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46293" y="36347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4" name="TextBox 93"/>
          <p:cNvSpPr txBox="1"/>
          <p:nvPr/>
        </p:nvSpPr>
        <p:spPr>
          <a:xfrm>
            <a:off x="4246293" y="36347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226987" y="3634740"/>
            <a:ext cx="373761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6" name="TextBox 95"/>
          <p:cNvSpPr txBox="1"/>
          <p:nvPr/>
        </p:nvSpPr>
        <p:spPr>
          <a:xfrm>
            <a:off x="5226987" y="363474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6931" y="3806190"/>
            <a:ext cx="21945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8" name="TextBox 97"/>
          <p:cNvSpPr txBox="1"/>
          <p:nvPr/>
        </p:nvSpPr>
        <p:spPr>
          <a:xfrm>
            <a:off x="206931" y="380619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NE-OXFORD_NORTH-NE-BEAVER_CITY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422065" y="3806190"/>
            <a:ext cx="8229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0" name="TextBox 99"/>
          <p:cNvSpPr txBox="1"/>
          <p:nvPr/>
        </p:nvSpPr>
        <p:spPr>
          <a:xfrm>
            <a:off x="2422065" y="380619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Viking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65599" y="38061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2" name="TextBox 101"/>
          <p:cNvSpPr txBox="1"/>
          <p:nvPr/>
        </p:nvSpPr>
        <p:spPr>
          <a:xfrm>
            <a:off x="3265599" y="38061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George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246293" y="38061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4" name="TextBox 103"/>
          <p:cNvSpPr txBox="1"/>
          <p:nvPr/>
        </p:nvSpPr>
        <p:spPr>
          <a:xfrm>
            <a:off x="4246293" y="38061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226987" y="3806190"/>
            <a:ext cx="373761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6" name="TextBox 105"/>
          <p:cNvSpPr txBox="1"/>
          <p:nvPr/>
        </p:nvSpPr>
        <p:spPr>
          <a:xfrm>
            <a:off x="5226987" y="380619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06931" y="3977640"/>
            <a:ext cx="21945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8" name="TextBox 107"/>
          <p:cNvSpPr txBox="1"/>
          <p:nvPr/>
        </p:nvSpPr>
        <p:spPr>
          <a:xfrm>
            <a:off x="206931" y="397764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NE-ANSLEY-NE-DRY_VALLEY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422065" y="3977640"/>
            <a:ext cx="8229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0" name="TextBox 109"/>
          <p:cNvSpPr txBox="1"/>
          <p:nvPr/>
        </p:nvSpPr>
        <p:spPr>
          <a:xfrm>
            <a:off x="2422065" y="397764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WaveLink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265599" y="39776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2" name="TextBox 111"/>
          <p:cNvSpPr txBox="1"/>
          <p:nvPr/>
        </p:nvSpPr>
        <p:spPr>
          <a:xfrm>
            <a:off x="3265599" y="39776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Jason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246293" y="39776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4" name="TextBox 113"/>
          <p:cNvSpPr txBox="1"/>
          <p:nvPr/>
        </p:nvSpPr>
        <p:spPr>
          <a:xfrm>
            <a:off x="4246293" y="39776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226987" y="3977640"/>
            <a:ext cx="373761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6" name="TextBox 115"/>
          <p:cNvSpPr txBox="1"/>
          <p:nvPr/>
        </p:nvSpPr>
        <p:spPr>
          <a:xfrm>
            <a:off x="5226987" y="397764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06931" y="4149090"/>
            <a:ext cx="21945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8" name="TextBox 117"/>
          <p:cNvSpPr txBox="1"/>
          <p:nvPr/>
        </p:nvSpPr>
        <p:spPr>
          <a:xfrm>
            <a:off x="206931" y="414909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NE-PIERCE_DT-NE-PIERCE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422065" y="4149090"/>
            <a:ext cx="8229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0" name="TextBox 119"/>
          <p:cNvSpPr txBox="1"/>
          <p:nvPr/>
        </p:nvSpPr>
        <p:spPr>
          <a:xfrm>
            <a:off x="2422065" y="414909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WaveLink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265599" y="41490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2" name="TextBox 121"/>
          <p:cNvSpPr txBox="1"/>
          <p:nvPr/>
        </p:nvSpPr>
        <p:spPr>
          <a:xfrm>
            <a:off x="3265599" y="41490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Jason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246293" y="41490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4" name="TextBox 123"/>
          <p:cNvSpPr txBox="1"/>
          <p:nvPr/>
        </p:nvSpPr>
        <p:spPr>
          <a:xfrm>
            <a:off x="4246293" y="41490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226987" y="4149090"/>
            <a:ext cx="373761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6" name="TextBox 125"/>
          <p:cNvSpPr txBox="1"/>
          <p:nvPr/>
        </p:nvSpPr>
        <p:spPr>
          <a:xfrm>
            <a:off x="5226987" y="414909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06931" y="4320540"/>
            <a:ext cx="21945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8" name="TextBox 127"/>
          <p:cNvSpPr txBox="1"/>
          <p:nvPr/>
        </p:nvSpPr>
        <p:spPr>
          <a:xfrm>
            <a:off x="206931" y="432054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NE-ELWOOD-NE-BERTRAND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422065" y="4320540"/>
            <a:ext cx="8229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0" name="TextBox 129"/>
          <p:cNvSpPr txBox="1"/>
          <p:nvPr/>
        </p:nvSpPr>
        <p:spPr>
          <a:xfrm>
            <a:off x="2422065" y="432054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MZI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265599" y="43205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2" name="TextBox 131"/>
          <p:cNvSpPr txBox="1"/>
          <p:nvPr/>
        </p:nvSpPr>
        <p:spPr>
          <a:xfrm>
            <a:off x="3265599" y="43205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Steve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46293" y="43205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4" name="TextBox 133"/>
          <p:cNvSpPr txBox="1"/>
          <p:nvPr/>
        </p:nvSpPr>
        <p:spPr>
          <a:xfrm>
            <a:off x="4246293" y="43205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226987" y="4320540"/>
            <a:ext cx="373761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6" name="TextBox 135"/>
          <p:cNvSpPr txBox="1"/>
          <p:nvPr/>
        </p:nvSpPr>
        <p:spPr>
          <a:xfrm>
            <a:off x="5226987" y="432054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06931" y="4491990"/>
            <a:ext cx="21945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8" name="TextBox 137"/>
          <p:cNvSpPr txBox="1"/>
          <p:nvPr/>
        </p:nvSpPr>
        <p:spPr>
          <a:xfrm>
            <a:off x="206931" y="449199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NE-BASSETT_SOUTH-NE-ROSE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422065" y="4491990"/>
            <a:ext cx="8229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0" name="TextBox 139"/>
          <p:cNvSpPr txBox="1"/>
          <p:nvPr/>
        </p:nvSpPr>
        <p:spPr>
          <a:xfrm>
            <a:off x="2422065" y="449199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Tech CX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265599" y="44919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2" name="TextBox 141"/>
          <p:cNvSpPr txBox="1"/>
          <p:nvPr/>
        </p:nvSpPr>
        <p:spPr>
          <a:xfrm>
            <a:off x="3265599" y="44919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Hap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246293" y="44919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4" name="TextBox 143"/>
          <p:cNvSpPr txBox="1"/>
          <p:nvPr/>
        </p:nvSpPr>
        <p:spPr>
          <a:xfrm>
            <a:off x="4246293" y="44919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226987" y="4491990"/>
            <a:ext cx="373761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6" name="TextBox 145"/>
          <p:cNvSpPr txBox="1"/>
          <p:nvPr/>
        </p:nvSpPr>
        <p:spPr>
          <a:xfrm>
            <a:off x="5226987" y="449199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06931" y="4663440"/>
            <a:ext cx="21945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8" name="TextBox 147"/>
          <p:cNvSpPr txBox="1"/>
          <p:nvPr/>
        </p:nvSpPr>
        <p:spPr>
          <a:xfrm>
            <a:off x="206931" y="466344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NE-COZAD_DT-NE-COZAD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422065" y="4663440"/>
            <a:ext cx="8229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0" name="TextBox 149"/>
          <p:cNvSpPr txBox="1"/>
          <p:nvPr/>
        </p:nvSpPr>
        <p:spPr>
          <a:xfrm>
            <a:off x="2422065" y="466344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Tech CX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265599" y="46634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2" name="TextBox 151"/>
          <p:cNvSpPr txBox="1"/>
          <p:nvPr/>
        </p:nvSpPr>
        <p:spPr>
          <a:xfrm>
            <a:off x="3265599" y="46634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Hap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246293" y="46634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4" name="TextBox 153"/>
          <p:cNvSpPr txBox="1"/>
          <p:nvPr/>
        </p:nvSpPr>
        <p:spPr>
          <a:xfrm>
            <a:off x="4246293" y="46634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226987" y="4663440"/>
            <a:ext cx="373761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6" name="TextBox 155"/>
          <p:cNvSpPr txBox="1"/>
          <p:nvPr/>
        </p:nvSpPr>
        <p:spPr>
          <a:xfrm>
            <a:off x="5226987" y="466344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06931" y="4834890"/>
            <a:ext cx="21945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8" name="TextBox 157"/>
          <p:cNvSpPr txBox="1"/>
          <p:nvPr/>
        </p:nvSpPr>
        <p:spPr>
          <a:xfrm>
            <a:off x="206931" y="483489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NE-COZAD_DT-NE-GOTHENBURG_WEST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422065" y="4834890"/>
            <a:ext cx="8229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0" name="TextBox 159"/>
          <p:cNvSpPr txBox="1"/>
          <p:nvPr/>
        </p:nvSpPr>
        <p:spPr>
          <a:xfrm>
            <a:off x="2422065" y="483489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Tech CX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265599" y="48348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2" name="TextBox 161"/>
          <p:cNvSpPr txBox="1"/>
          <p:nvPr/>
        </p:nvSpPr>
        <p:spPr>
          <a:xfrm>
            <a:off x="3265599" y="48348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Hap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246293" y="48348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4" name="TextBox 163"/>
          <p:cNvSpPr txBox="1"/>
          <p:nvPr/>
        </p:nvSpPr>
        <p:spPr>
          <a:xfrm>
            <a:off x="4246293" y="48348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226987" y="4834890"/>
            <a:ext cx="373761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6" name="TextBox 165"/>
          <p:cNvSpPr txBox="1"/>
          <p:nvPr/>
        </p:nvSpPr>
        <p:spPr>
          <a:xfrm>
            <a:off x="5226987" y="483489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06931" y="5006340"/>
            <a:ext cx="21945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8" name="TextBox 167"/>
          <p:cNvSpPr txBox="1"/>
          <p:nvPr/>
        </p:nvSpPr>
        <p:spPr>
          <a:xfrm>
            <a:off x="206931" y="500634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CO-BETHUNE-CO-BURLINGTON_SOUTH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422065" y="5006340"/>
            <a:ext cx="8229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0" name="TextBox 169"/>
          <p:cNvSpPr txBox="1"/>
          <p:nvPr/>
        </p:nvSpPr>
        <p:spPr>
          <a:xfrm>
            <a:off x="2422065" y="500634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TCE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265599" y="50063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2" name="TextBox 171"/>
          <p:cNvSpPr txBox="1"/>
          <p:nvPr/>
        </p:nvSpPr>
        <p:spPr>
          <a:xfrm>
            <a:off x="3265599" y="50063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Kal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246293" y="50063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4" name="TextBox 173"/>
          <p:cNvSpPr txBox="1"/>
          <p:nvPr/>
        </p:nvSpPr>
        <p:spPr>
          <a:xfrm>
            <a:off x="4246293" y="50063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226987" y="5006340"/>
            <a:ext cx="373761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6" name="TextBox 175"/>
          <p:cNvSpPr txBox="1"/>
          <p:nvPr/>
        </p:nvSpPr>
        <p:spPr>
          <a:xfrm>
            <a:off x="5226987" y="500634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06931" y="5177790"/>
            <a:ext cx="21945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8" name="TextBox 177"/>
          <p:cNvSpPr txBox="1"/>
          <p:nvPr/>
        </p:nvSpPr>
        <p:spPr>
          <a:xfrm>
            <a:off x="206931" y="517779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NE-OXFORD_NORTH-NE-EDISON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422065" y="5177790"/>
            <a:ext cx="8229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0" name="TextBox 179"/>
          <p:cNvSpPr txBox="1"/>
          <p:nvPr/>
        </p:nvSpPr>
        <p:spPr>
          <a:xfrm>
            <a:off x="2422065" y="517779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Viking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3265599" y="51777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2" name="TextBox 181"/>
          <p:cNvSpPr txBox="1"/>
          <p:nvPr/>
        </p:nvSpPr>
        <p:spPr>
          <a:xfrm>
            <a:off x="3265599" y="51777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George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4246293" y="51777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4" name="TextBox 183"/>
          <p:cNvSpPr txBox="1"/>
          <p:nvPr/>
        </p:nvSpPr>
        <p:spPr>
          <a:xfrm>
            <a:off x="4246293" y="51777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5226987" y="5177790"/>
            <a:ext cx="373761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6" name="TextBox 185"/>
          <p:cNvSpPr txBox="1"/>
          <p:nvPr/>
        </p:nvSpPr>
        <p:spPr>
          <a:xfrm>
            <a:off x="5226987" y="517779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06931" y="5349240"/>
            <a:ext cx="21945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8" name="TextBox 187"/>
          <p:cNvSpPr txBox="1"/>
          <p:nvPr/>
        </p:nvSpPr>
        <p:spPr>
          <a:xfrm>
            <a:off x="206931" y="534924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CO-SHERIDAN_LAKE_SOUTH-CO-EADS_EAST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422065" y="5349240"/>
            <a:ext cx="8229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0" name="TextBox 189"/>
          <p:cNvSpPr txBox="1"/>
          <p:nvPr/>
        </p:nvSpPr>
        <p:spPr>
          <a:xfrm>
            <a:off x="2422065" y="534924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Ethos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3265599" y="53492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2" name="TextBox 191"/>
          <p:cNvSpPr txBox="1"/>
          <p:nvPr/>
        </p:nvSpPr>
        <p:spPr>
          <a:xfrm>
            <a:off x="3265599" y="53492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Chris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246293" y="53492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4" name="TextBox 193"/>
          <p:cNvSpPr txBox="1"/>
          <p:nvPr/>
        </p:nvSpPr>
        <p:spPr>
          <a:xfrm>
            <a:off x="4246293" y="53492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226987" y="5349240"/>
            <a:ext cx="373761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6" name="TextBox 195"/>
          <p:cNvSpPr txBox="1"/>
          <p:nvPr/>
        </p:nvSpPr>
        <p:spPr>
          <a:xfrm>
            <a:off x="5226987" y="534924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06931" y="5520690"/>
            <a:ext cx="21945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8" name="TextBox 197"/>
          <p:cNvSpPr txBox="1"/>
          <p:nvPr/>
        </p:nvSpPr>
        <p:spPr>
          <a:xfrm>
            <a:off x="206931" y="552069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CO-PUNKIN_CENTER-CO-PUNKIN_CENTER_SW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422065" y="5520690"/>
            <a:ext cx="8229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0" name="TextBox 199"/>
          <p:cNvSpPr txBox="1"/>
          <p:nvPr/>
        </p:nvSpPr>
        <p:spPr>
          <a:xfrm>
            <a:off x="2422065" y="552069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Steimel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3265599" y="55206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2" name="TextBox 201"/>
          <p:cNvSpPr txBox="1"/>
          <p:nvPr/>
        </p:nvSpPr>
        <p:spPr>
          <a:xfrm>
            <a:off x="3265599" y="55206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Chris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4246293" y="55206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4" name="TextBox 203"/>
          <p:cNvSpPr txBox="1"/>
          <p:nvPr/>
        </p:nvSpPr>
        <p:spPr>
          <a:xfrm>
            <a:off x="4246293" y="55206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226987" y="5520690"/>
            <a:ext cx="373761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6" name="TextBox 205"/>
          <p:cNvSpPr txBox="1"/>
          <p:nvPr/>
        </p:nvSpPr>
        <p:spPr>
          <a:xfrm>
            <a:off x="5226987" y="552069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206931" y="5692140"/>
            <a:ext cx="21945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8" name="TextBox 207"/>
          <p:cNvSpPr txBox="1"/>
          <p:nvPr/>
        </p:nvSpPr>
        <p:spPr>
          <a:xfrm>
            <a:off x="206931" y="569214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CO-CHEYENNE_WELLS-CO-BURLINGTON_SOUTH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422065" y="5692140"/>
            <a:ext cx="8229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0" name="TextBox 209"/>
          <p:cNvSpPr txBox="1"/>
          <p:nvPr/>
        </p:nvSpPr>
        <p:spPr>
          <a:xfrm>
            <a:off x="2422065" y="569214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TCE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265599" y="56921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2" name="TextBox 211"/>
          <p:cNvSpPr txBox="1"/>
          <p:nvPr/>
        </p:nvSpPr>
        <p:spPr>
          <a:xfrm>
            <a:off x="3265599" y="56921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Kal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4246293" y="56921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4" name="TextBox 213"/>
          <p:cNvSpPr txBox="1"/>
          <p:nvPr/>
        </p:nvSpPr>
        <p:spPr>
          <a:xfrm>
            <a:off x="4246293" y="56921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5226987" y="5692140"/>
            <a:ext cx="373761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6" name="TextBox 215"/>
          <p:cNvSpPr txBox="1"/>
          <p:nvPr/>
        </p:nvSpPr>
        <p:spPr>
          <a:xfrm>
            <a:off x="5226987" y="569214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206931" y="5863590"/>
            <a:ext cx="21945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8" name="TextBox 217"/>
          <p:cNvSpPr txBox="1"/>
          <p:nvPr/>
        </p:nvSpPr>
        <p:spPr>
          <a:xfrm>
            <a:off x="206931" y="586359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CO-HUGO-CO-LIMON_SOUTH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422065" y="5863590"/>
            <a:ext cx="8229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0" name="TextBox 219"/>
          <p:cNvSpPr txBox="1"/>
          <p:nvPr/>
        </p:nvSpPr>
        <p:spPr>
          <a:xfrm>
            <a:off x="2422065" y="586359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Tech CX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3265599" y="58635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2" name="TextBox 221"/>
          <p:cNvSpPr txBox="1"/>
          <p:nvPr/>
        </p:nvSpPr>
        <p:spPr>
          <a:xfrm>
            <a:off x="3265599" y="58635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Hap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4246293" y="58635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4" name="TextBox 223"/>
          <p:cNvSpPr txBox="1"/>
          <p:nvPr/>
        </p:nvSpPr>
        <p:spPr>
          <a:xfrm>
            <a:off x="4246293" y="58635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5226987" y="5863590"/>
            <a:ext cx="373761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6" name="TextBox 225"/>
          <p:cNvSpPr txBox="1"/>
          <p:nvPr/>
        </p:nvSpPr>
        <p:spPr>
          <a:xfrm>
            <a:off x="5226987" y="586359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06931" y="6035040"/>
            <a:ext cx="21945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8" name="TextBox 227"/>
          <p:cNvSpPr txBox="1"/>
          <p:nvPr/>
        </p:nvSpPr>
        <p:spPr>
          <a:xfrm>
            <a:off x="206931" y="603504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CO-SHERIDAN_LAKE_NORTH-CO-TOWNER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2422065" y="6035040"/>
            <a:ext cx="8229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0" name="TextBox 229"/>
          <p:cNvSpPr txBox="1"/>
          <p:nvPr/>
        </p:nvSpPr>
        <p:spPr>
          <a:xfrm>
            <a:off x="2422065" y="603504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Ethos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3265599" y="60350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2" name="TextBox 231"/>
          <p:cNvSpPr txBox="1"/>
          <p:nvPr/>
        </p:nvSpPr>
        <p:spPr>
          <a:xfrm>
            <a:off x="3265599" y="60350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Chris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4246293" y="60350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4" name="TextBox 233"/>
          <p:cNvSpPr txBox="1"/>
          <p:nvPr/>
        </p:nvSpPr>
        <p:spPr>
          <a:xfrm>
            <a:off x="4246293" y="60350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5226987" y="6035040"/>
            <a:ext cx="373761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6" name="TextBox 235"/>
          <p:cNvSpPr txBox="1"/>
          <p:nvPr/>
        </p:nvSpPr>
        <p:spPr>
          <a:xfrm>
            <a:off x="5226987" y="603504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206931" y="6206490"/>
            <a:ext cx="21945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8" name="TextBox 237"/>
          <p:cNvSpPr txBox="1"/>
          <p:nvPr/>
        </p:nvSpPr>
        <p:spPr>
          <a:xfrm>
            <a:off x="206931" y="620649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CO-SIMLA-CO-CEDAR_POINT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2422065" y="6206490"/>
            <a:ext cx="8229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0" name="TextBox 239"/>
          <p:cNvSpPr txBox="1"/>
          <p:nvPr/>
        </p:nvSpPr>
        <p:spPr>
          <a:xfrm>
            <a:off x="2422065" y="620649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Mastec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3265599" y="62064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2" name="TextBox 241"/>
          <p:cNvSpPr txBox="1"/>
          <p:nvPr/>
        </p:nvSpPr>
        <p:spPr>
          <a:xfrm>
            <a:off x="3265599" y="62064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Benny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4246293" y="62064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4" name="TextBox 243"/>
          <p:cNvSpPr txBox="1"/>
          <p:nvPr/>
        </p:nvSpPr>
        <p:spPr>
          <a:xfrm>
            <a:off x="4246293" y="62064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5226987" y="6206490"/>
            <a:ext cx="373761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6" name="TextBox 245"/>
          <p:cNvSpPr txBox="1"/>
          <p:nvPr/>
        </p:nvSpPr>
        <p:spPr>
          <a:xfrm>
            <a:off x="5226987" y="620649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06931" y="6377940"/>
            <a:ext cx="21945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8" name="TextBox 247"/>
          <p:cNvSpPr txBox="1"/>
          <p:nvPr/>
        </p:nvSpPr>
        <p:spPr>
          <a:xfrm>
            <a:off x="206931" y="637794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CO-BONNY-CO-BURLINGTON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422065" y="6377940"/>
            <a:ext cx="8229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0" name="TextBox 249"/>
          <p:cNvSpPr txBox="1"/>
          <p:nvPr/>
        </p:nvSpPr>
        <p:spPr>
          <a:xfrm>
            <a:off x="2422065" y="637794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TCE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3265599" y="63779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2" name="TextBox 251"/>
          <p:cNvSpPr txBox="1"/>
          <p:nvPr/>
        </p:nvSpPr>
        <p:spPr>
          <a:xfrm>
            <a:off x="3265599" y="63779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Kal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4246293" y="63779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4" name="TextBox 253"/>
          <p:cNvSpPr txBox="1"/>
          <p:nvPr/>
        </p:nvSpPr>
        <p:spPr>
          <a:xfrm>
            <a:off x="4246293" y="63779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5226987" y="6377940"/>
            <a:ext cx="373761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6" name="TextBox 255"/>
          <p:cNvSpPr txBox="1"/>
          <p:nvPr/>
        </p:nvSpPr>
        <p:spPr>
          <a:xfrm>
            <a:off x="5226987" y="637794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206931" y="6549390"/>
            <a:ext cx="21945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8" name="TextBox 257"/>
          <p:cNvSpPr txBox="1"/>
          <p:nvPr/>
        </p:nvSpPr>
        <p:spPr>
          <a:xfrm>
            <a:off x="206931" y="654939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CO-BARREL_SPRINGS-CO-ARLINGTON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2422065" y="6549390"/>
            <a:ext cx="82296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0" name="TextBox 259"/>
          <p:cNvSpPr txBox="1"/>
          <p:nvPr/>
        </p:nvSpPr>
        <p:spPr>
          <a:xfrm>
            <a:off x="2422065" y="654939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Elite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3265599" y="65493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2" name="TextBox 261"/>
          <p:cNvSpPr txBox="1"/>
          <p:nvPr/>
        </p:nvSpPr>
        <p:spPr>
          <a:xfrm>
            <a:off x="3265599" y="65493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Chris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4246293" y="6549390"/>
            <a:ext cx="96012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4" name="TextBox 263"/>
          <p:cNvSpPr txBox="1"/>
          <p:nvPr/>
        </p:nvSpPr>
        <p:spPr>
          <a:xfrm>
            <a:off x="4246293" y="654939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5226987" y="6549390"/>
            <a:ext cx="3737610" cy="16459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6" name="TextBox 265"/>
          <p:cNvSpPr txBox="1"/>
          <p:nvPr/>
        </p:nvSpPr>
        <p:spPr>
          <a:xfrm>
            <a:off x="5226987" y="654939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206931" y="6720840"/>
            <a:ext cx="21945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8" name="TextBox 267"/>
          <p:cNvSpPr txBox="1"/>
          <p:nvPr/>
        </p:nvSpPr>
        <p:spPr>
          <a:xfrm>
            <a:off x="206931" y="6720840"/>
            <a:ext cx="21945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CO-BOYERO-CO-KIT_CARSON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2422065" y="6720840"/>
            <a:ext cx="82296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0" name="TextBox 269"/>
          <p:cNvSpPr txBox="1"/>
          <p:nvPr/>
        </p:nvSpPr>
        <p:spPr>
          <a:xfrm>
            <a:off x="2422065" y="6720840"/>
            <a:ext cx="8229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InSite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3265599" y="67208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2" name="TextBox 271"/>
          <p:cNvSpPr txBox="1"/>
          <p:nvPr/>
        </p:nvSpPr>
        <p:spPr>
          <a:xfrm>
            <a:off x="3265599" y="67208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>
                <a:solidFill>
                  <a:srgbClr val="1F1F1F"/>
                </a:solidFill>
                <a:latin typeface="Calibri"/>
              </a:rPr>
              <a:t>Kal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4246293" y="6720840"/>
            <a:ext cx="96012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4" name="TextBox 273"/>
          <p:cNvSpPr txBox="1"/>
          <p:nvPr/>
        </p:nvSpPr>
        <p:spPr>
          <a:xfrm>
            <a:off x="4246293" y="6720840"/>
            <a:ext cx="9601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0703C"/>
                </a:solidFill>
                <a:latin typeface="Calibri"/>
              </a:rPr>
              <a:t>All Docs Uploaded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5226987" y="6720840"/>
            <a:ext cx="3737610" cy="1645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6" name="TextBox 275"/>
          <p:cNvSpPr txBox="1"/>
          <p:nvPr/>
        </p:nvSpPr>
        <p:spPr>
          <a:xfrm>
            <a:off x="5226987" y="6720840"/>
            <a:ext cx="37376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>
                <a:solidFill>
                  <a:srgbClr val="1F1F1F"/>
                </a:solidFill>
                <a:latin typeface="Calibri"/>
              </a:rPr>
              <a:t>All docs uploaded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Pipeline — Nebraska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Nebraska HOP Count: 193  ·  NE- prefixed HOPs only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38404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Supplier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Crews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Cx Started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Cx Compl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Pipeline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E"/>
                          </a:solidFill>
                        </a:rPr>
                        <a:t>Capital Tower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24191"/>
                          </a:solidFill>
                        </a:rPr>
                        <a:t>4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17346"/>
                          </a:solidFill>
                        </a:rPr>
                        <a:t>7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F6FBF"/>
                          </a:solidFill>
                        </a:rPr>
                        <a:t>2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D4860A"/>
                          </a:solidFill>
                        </a:rPr>
                        <a:t>20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rgbClr val="64748B"/>
                          </a:solidFill>
                        </a:rPr>
                        <a:t>Adding 4th crew mid-June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E"/>
                          </a:solidFill>
                        </a:rPr>
                        <a:t>Ethos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24191"/>
                          </a:solidFill>
                        </a:rPr>
                        <a:t>3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17346"/>
                          </a:solidFill>
                        </a:rPr>
                        <a:t>6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F6FBF"/>
                          </a:solidFill>
                        </a:rPr>
                        <a:t>3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D4860A"/>
                          </a:solidFill>
                        </a:rPr>
                        <a:t>13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E"/>
                          </a:solidFill>
                        </a:rPr>
                        <a:t>MZI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24191"/>
                          </a:solidFill>
                        </a:rPr>
                        <a:t>3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17346"/>
                          </a:solidFill>
                        </a:rPr>
                        <a:t>7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F6FBF"/>
                          </a:solidFill>
                        </a:rPr>
                        <a:t>5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D4860A"/>
                          </a:solidFill>
                        </a:rPr>
                        <a:t>20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rgbClr val="64748B"/>
                          </a:solidFill>
                        </a:rPr>
                        <a:t>2 additional crews June training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E"/>
                          </a:solidFill>
                        </a:rPr>
                        <a:t>Mastec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24191"/>
                          </a:solidFill>
                        </a:rPr>
                        <a:t>2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17346"/>
                          </a:solidFill>
                        </a:rPr>
                        <a:t>3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F6FBF"/>
                          </a:solidFill>
                        </a:rPr>
                        <a:t>1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D4860A"/>
                          </a:solidFill>
                        </a:rPr>
                        <a:t>5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rgbClr val="64748B"/>
                          </a:solidFill>
                        </a:rPr>
                        <a:t>2nd crew moving to NE early June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E"/>
                          </a:solidFill>
                        </a:rPr>
                        <a:t>NV Tel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24191"/>
                          </a:solidFill>
                        </a:rPr>
                        <a:t>2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17346"/>
                          </a:solidFill>
                        </a:rPr>
                        <a:t>2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F6FBF"/>
                          </a:solidFill>
                        </a:rPr>
                        <a:t>1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D4860A"/>
                          </a:solidFill>
                        </a:rPr>
                        <a:t>10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rgbClr val="64748B"/>
                          </a:solidFill>
                        </a:rPr>
                        <a:t>Lost 2 crews (replacing June training)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E"/>
                          </a:solidFill>
                        </a:rPr>
                        <a:t>Site Property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24191"/>
                          </a:solidFill>
                        </a:rPr>
                        <a:t>1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17346"/>
                          </a:solidFill>
                        </a:rPr>
                        <a:t>4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F6FBF"/>
                          </a:solidFill>
                        </a:rPr>
                        <a:t>4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D4860A"/>
                          </a:solidFill>
                        </a:rPr>
                        <a:t>4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E"/>
                          </a:solidFill>
                        </a:rPr>
                        <a:t>TCE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24191"/>
                          </a:solidFill>
                        </a:rPr>
                        <a:t>0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17346"/>
                          </a:solidFill>
                        </a:rPr>
                        <a:t>0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F6FBF"/>
                          </a:solidFill>
                        </a:rPr>
                        <a:t>0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D4860A"/>
                          </a:solidFill>
                        </a:rPr>
                        <a:t>1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rgbClr val="64748B"/>
                          </a:solidFill>
                        </a:rPr>
                        <a:t>Imperial HS to be reassigned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E"/>
                          </a:solidFill>
                        </a:rPr>
                        <a:t>Tech CX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24191"/>
                          </a:solidFill>
                        </a:rPr>
                        <a:t>4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17346"/>
                          </a:solidFill>
                        </a:rPr>
                        <a:t>9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F6FBF"/>
                          </a:solidFill>
                        </a:rPr>
                        <a:t>4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D4860A"/>
                          </a:solidFill>
                        </a:rPr>
                        <a:t>30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E"/>
                          </a:solidFill>
                        </a:rPr>
                        <a:t>Viking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24191"/>
                          </a:solidFill>
                        </a:rPr>
                        <a:t>1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17346"/>
                          </a:solidFill>
                        </a:rPr>
                        <a:t>5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F6FBF"/>
                          </a:solidFill>
                        </a:rPr>
                        <a:t>4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D4860A"/>
                          </a:solidFill>
                        </a:rPr>
                        <a:t>4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E"/>
                          </a:solidFill>
                        </a:rPr>
                        <a:t>Vikor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24191"/>
                          </a:solidFill>
                        </a:rPr>
                        <a:t>3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17346"/>
                          </a:solidFill>
                        </a:rPr>
                        <a:t>4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F6FBF"/>
                          </a:solidFill>
                        </a:rPr>
                        <a:t>2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D4860A"/>
                          </a:solidFill>
                        </a:rPr>
                        <a:t>17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rgbClr val="64748B"/>
                          </a:solidFill>
                        </a:rPr>
                        <a:t>Working Sterling HOPs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E"/>
                          </a:solidFill>
                        </a:rPr>
                        <a:t>WaveLink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24191"/>
                          </a:solidFill>
                        </a:rPr>
                        <a:t>2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17346"/>
                          </a:solidFill>
                        </a:rPr>
                        <a:t>4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F6FBF"/>
                          </a:solidFill>
                        </a:rPr>
                        <a:t>2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D4860A"/>
                          </a:solidFill>
                        </a:rPr>
                        <a:t>8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 only on latest Red Flag Report: Lexington TG_Lexington · Lexington_Overton · Maxwell South_Maxwell</a:t>
            </a:r>
            <a:endParaRPr lang="en-US" sz="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Duration Summary — Common Root Causes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patterns driving extended build durations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987552"/>
            <a:ext cx="4206240" cy="384048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0424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⛅  Weather Dependencies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3986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and adverse conditions halted crane, antenna, and pathing work, forcing crew standdowns with limited mitigation available.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274320" y="292608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206240" cy="384048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9809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Equipment &amp; Parts Errors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384048" y="3383280"/>
            <a:ext cx="3986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SFPs, missing couplings, faulty components — each requiring unplanned warehouse runs and rework adding discrete delays.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754880" y="987552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987552"/>
            <a:ext cx="4206240" cy="3840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0424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Third-Party Coordination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864608" y="1444752"/>
            <a:ext cx="3986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ITW path alignment dependencies and Samsung scheduling conflicts creating cascading downstream delays across multiple HOPs.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206240" cy="38404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29809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Troubleshooting Cascades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4864608" y="3383280"/>
            <a:ext cx="3986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 faults, cross polarization, frequency holds — triggered multi-step troubleshooting chains extending well beyond initial estimates.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8595360" cy="219456"/>
          </a:xfrm>
          <a:prstGeom prst="rect">
            <a:avLst/>
          </a:prstGeom>
          <a:solidFill>
            <a:srgbClr val="D6E4F5"/>
          </a:solidFill>
          <a:ln w="12700">
            <a:solidFill>
              <a:srgbClr val="CC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467258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patterns repeat across multiple HOPs — systemic gaps in equipment validation, subcontractor scheduling, and contingency planning.</a:t>
            </a:r>
            <a:endParaRPr lang="en-US" sz="85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Times (work in progress)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514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AA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Golden Cluster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Sterling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Nebraska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</a:rPr>
                        <a:t>Started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F6FBF"/>
                          </a:solidFill>
                        </a:rPr>
                        <a:t>25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F6FBF"/>
                          </a:solidFill>
                        </a:rPr>
                        <a:t>9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F6FBF"/>
                          </a:solidFill>
                        </a:rPr>
                        <a:t>40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</a:rPr>
                        <a:t>Completed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217346"/>
                          </a:solidFill>
                        </a:rPr>
                        <a:t>24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217346"/>
                          </a:solidFill>
                        </a:rPr>
                        <a:t>7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217346"/>
                          </a:solidFill>
                        </a:rPr>
                        <a:t>12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</a:rPr>
                        <a:t>Outliers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C00000"/>
                          </a:solidFill>
                        </a:rPr>
                        <a:t>8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</a:rPr>
                        <a:t>Average</a:t>
                      </a: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D4860A"/>
                          </a:solidFill>
                        </a:rPr>
                        <a:t>28.8d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24191"/>
                          </a:solidFill>
                        </a:rPr>
                        <a:t>13.1d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217346"/>
                          </a:solidFill>
                        </a:rPr>
                        <a:t>23.5d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6576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include 8 outliers (false starts; CL changes)</a:t>
            </a:r>
            <a:endParaRPr lang="en-US" sz="800"/>
          </a:p>
          <a:p>
            <a:pPr marL="0" indent="0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short: 15 days, long: 44 days</a:t>
            </a:r>
            <a:endParaRPr lang="en-US" sz="800"/>
          </a:p>
        </p:txBody>
      </p:sp>
      <p:sp>
        <p:nvSpPr>
          <p:cNvPr id="8" name="Text 5"/>
          <p:cNvSpPr/>
          <p:nvPr/>
        </p:nvSpPr>
        <p:spPr>
          <a:xfrm>
            <a:off x="3200400" y="36576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one @ 28 days (facemount)</a:t>
            </a:r>
            <a:endParaRPr lang="en-US" sz="800"/>
          </a:p>
          <a:p>
            <a:pPr marL="0" indent="0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short: 3 days, long: 28 days</a:t>
            </a:r>
            <a:endParaRPr lang="en-US" sz="800"/>
          </a:p>
        </p:txBody>
      </p:sp>
      <p:sp>
        <p:nvSpPr>
          <p:cNvPr id="9" name="Text 6"/>
          <p:cNvSpPr/>
          <p:nvPr/>
        </p:nvSpPr>
        <p:spPr>
          <a:xfrm>
            <a:off x="5943600" y="36576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include 2 outliers (false start, All Wave)</a:t>
            </a:r>
            <a:endParaRPr lang="en-US" sz="800"/>
          </a:p>
          <a:p>
            <a:pPr marL="0" indent="0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short: 10 days, long: 39 days</a:t>
            </a:r>
            <a:endParaRPr lang="en-US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spe:Receivers xmlns:spe="http://schemas.microsoft.com/sharepoint/event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779450E6807C47B692BD0767564F4D" ma:contentTypeVersion="17" ma:contentTypeDescription="Create a new document." ma:contentTypeScope="" ma:versionID="6661cd17a56450bad4d548b83c410528">
  <xsd:schema xmlns:xsd="http://www.w3.org/2001/XMLSchema" xmlns:xs="http://www.w3.org/2001/XMLSchema" xmlns:p="http://schemas.microsoft.com/office/2006/metadata/properties" xmlns:ns2="71c5aaf6-e6ce-465b-b873-5148d2a4c105" xmlns:ns3="5d16befc-9a44-49f4-a0ea-b1736f4cc192" xmlns:ns4="03f392b3-309c-48fd-979c-2a66531d899e" targetNamespace="http://schemas.microsoft.com/office/2006/metadata/properties" ma:root="true" ma:fieldsID="e663dcd0c2067f47af672277ec277df6" ns2:_="" ns3:_="" ns4:_="">
    <xsd:import namespace="71c5aaf6-e6ce-465b-b873-5148d2a4c105"/>
    <xsd:import namespace="5d16befc-9a44-49f4-a0ea-b1736f4cc192"/>
    <xsd:import namespace="03f392b3-309c-48fd-979c-2a66531d899e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HideFromDelve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Location" minOccurs="0"/>
                <xsd:element ref="ns3:MediaServiceOCR" minOccurs="0"/>
                <xsd:element ref="ns3:SN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c5aaf6-e6ce-465b-b873-5148d2a4c10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HideFromDelve" ma:index="11" nillable="true" ma:displayName="HideFromDelve" ma:default="0" ma:internalName="HideFromDelv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16befc-9a44-49f4-a0ea-b1736f4cc1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34c87397-5fc1-491e-85e7-d6110dbe9c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SNo" ma:index="24" nillable="true" ma:displayName="S No" ma:decimals="0" ma:format="Dropdown" ma:internalName="SNo" ma:percentage="FALSE">
      <xsd:simpleType>
        <xsd:restriction base="dms:Number">
          <xsd:maxInclusive value="500"/>
          <xsd:minInclusive value="1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f392b3-309c-48fd-979c-2a66531d899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b371b343-224b-4a76-af05-6f23a7346562}" ma:internalName="TaxCatchAll" ma:showField="CatchAllData" ma:web="03f392b3-309c-48fd-979c-2a66531d89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34c87397-5fc1-491e-85e7-d6110dbe9cbd" ContentTypeId="0x0101" PreviousValue="false"/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16befc-9a44-49f4-a0ea-b1736f4cc192">
      <Terms xmlns="http://schemas.microsoft.com/office/infopath/2007/PartnerControls"/>
    </lcf76f155ced4ddcb4097134ff3c332f>
    <HideFromDelve xmlns="71c5aaf6-e6ce-465b-b873-5148d2a4c105">false</HideFromDelve>
    <TaxCatchAll xmlns="03f392b3-309c-48fd-979c-2a66531d899e" xsi:nil="true"/>
    <SNo xmlns="5d16befc-9a44-49f4-a0ea-b1736f4cc192" xsi:nil="true"/>
  </documentManagement>
</p:properties>
</file>

<file path=customXml/itemProps1.xml><?xml version="1.0" encoding="utf-8"?>
<ds:datastoreItem xmlns:ds="http://schemas.openxmlformats.org/officeDocument/2006/customXml" ds:itemID="{2C0D11BD-4E58-41BF-9F0B-77D8EFC9C54E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44A37011-5318-4D1F-B4F3-42AE9A840531}">
  <ds:schemaRefs>
    <ds:schemaRef ds:uri="03f392b3-309c-48fd-979c-2a66531d899e"/>
    <ds:schemaRef ds:uri="5d16befc-9a44-49f4-a0ea-b1736f4cc192"/>
    <ds:schemaRef ds:uri="71c5aaf6-e6ce-465b-b873-5148d2a4c10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F62673E-3210-41ED-8BBD-BD004886B5FF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78C1332-973E-495C-B70A-D8AA5C97BAC4}">
  <ds:schemaRefs>
    <ds:schemaRef ds:uri="Microsoft.SharePoint.Taxonomy.ContentTypeSync"/>
  </ds:schemaRefs>
</ds:datastoreItem>
</file>

<file path=customXml/itemProps5.xml><?xml version="1.0" encoding="utf-8"?>
<ds:datastoreItem xmlns:ds="http://schemas.openxmlformats.org/officeDocument/2006/customXml" ds:itemID="{C7DCE292-7603-4920-BE75-6C90A57F7772}">
  <ds:schemaRefs>
    <ds:schemaRef ds:uri="03f392b3-309c-48fd-979c-2a66531d899e"/>
    <ds:schemaRef ds:uri="5d16befc-9a44-49f4-a0ea-b1736f4cc192"/>
    <ds:schemaRef ds:uri="71c5aaf6-e6ce-465b-b873-5148d2a4c105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5d471751-9675-428d-917b-70f44f9630b0}" enabled="0" method="" siteId="{5d471751-9675-428d-917b-70f44f9630b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6951</Words>
  <Application>Microsoft Office PowerPoint</Application>
  <PresentationFormat>On-screen Show (16:9)</PresentationFormat>
  <Paragraphs>2404</Paragraphs>
  <Slides>34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Christopher Ojeda (Nokia)</cp:lastModifiedBy>
  <cp:revision>1</cp:revision>
  <dcterms:created xsi:type="dcterms:W3CDTF">2026-05-28T13:33:10Z</dcterms:created>
  <dcterms:modified xsi:type="dcterms:W3CDTF">2026-07-15T12:40:31Z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0x01010081779450E6807C47B692BD0767564F4D</vt:lpwstr>
  </property>
  <property fmtid="{D5CDD505-2E9C-101B-9397-08002B2CF9AE}" pid="3" name="MediaServiceImageTags">
    <vt:lpwstr/>
  </property>
</Properties>
</file>